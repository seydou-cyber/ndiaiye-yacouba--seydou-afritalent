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1"/>
  </p:sldMasterIdLst>
  <p:sldIdLst>
    <p:sldId id="270" r:id="rId2"/>
    <p:sldId id="266" r:id="rId3"/>
    <p:sldId id="259" r:id="rId4"/>
    <p:sldId id="260" r:id="rId5"/>
    <p:sldId id="261" r:id="rId6"/>
    <p:sldId id="262" r:id="rId7"/>
    <p:sldId id="263" r:id="rId8"/>
    <p:sldId id="264" r:id="rId9"/>
    <p:sldId id="265"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36256953-C3A7-49DE-A29D-8706C57A05CB}">
          <p14:sldIdLst>
            <p14:sldId id="270"/>
            <p14:sldId id="266"/>
            <p14:sldId id="259"/>
            <p14:sldId id="260"/>
            <p14:sldId id="261"/>
            <p14:sldId id="262"/>
            <p14:sldId id="263"/>
            <p14:sldId id="264"/>
          </p14:sldIdLst>
        </p14:section>
        <p14:section name="Section sans titre" id="{378BDF77-8077-4727-9289-896CEE72FA3E}">
          <p14:sldIdLst>
            <p14:sldId id="265"/>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8137B0-2F27-49AA-8021-EBCF9E70189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fr-FR"/>
        </a:p>
      </dgm:t>
    </dgm:pt>
    <dgm:pt modelId="{94D93419-C197-4691-8F4B-AD595BA3B15F}">
      <dgm:prSet/>
      <dgm:spPr>
        <a:solidFill>
          <a:schemeClr val="accent3">
            <a:lumMod val="50000"/>
          </a:schemeClr>
        </a:solidFill>
      </dgm:spPr>
      <dgm:t>
        <a:bodyPr/>
        <a:lstStyle/>
        <a:p>
          <a:pPr rtl="0"/>
          <a:r>
            <a:rPr lang="fr-SN" b="1" i="0" dirty="0" smtClean="0"/>
            <a:t>NAVBAR</a:t>
          </a:r>
          <a:endParaRPr lang="fr-FR" dirty="0"/>
        </a:p>
      </dgm:t>
    </dgm:pt>
    <dgm:pt modelId="{081D821C-3A5F-4930-AFDA-7D91A88E4DA4}" type="parTrans" cxnId="{958000DA-E428-4403-B6B6-A9512EAE7370}">
      <dgm:prSet/>
      <dgm:spPr/>
      <dgm:t>
        <a:bodyPr/>
        <a:lstStyle/>
        <a:p>
          <a:endParaRPr lang="fr-FR"/>
        </a:p>
      </dgm:t>
    </dgm:pt>
    <dgm:pt modelId="{227D1151-EFB1-4929-BF8E-0DB3AB224546}" type="sibTrans" cxnId="{958000DA-E428-4403-B6B6-A9512EAE7370}">
      <dgm:prSet/>
      <dgm:spPr/>
      <dgm:t>
        <a:bodyPr/>
        <a:lstStyle/>
        <a:p>
          <a:endParaRPr lang="fr-FR"/>
        </a:p>
      </dgm:t>
    </dgm:pt>
    <dgm:pt modelId="{C4DC18E2-DA37-4308-9C1D-416FE510565F}" type="pres">
      <dgm:prSet presAssocID="{468137B0-2F27-49AA-8021-EBCF9E70189F}" presName="diagram" presStyleCnt="0">
        <dgm:presLayoutVars>
          <dgm:chPref val="1"/>
          <dgm:dir/>
          <dgm:animOne val="branch"/>
          <dgm:animLvl val="lvl"/>
          <dgm:resizeHandles/>
        </dgm:presLayoutVars>
      </dgm:prSet>
      <dgm:spPr/>
      <dgm:t>
        <a:bodyPr/>
        <a:lstStyle/>
        <a:p>
          <a:endParaRPr lang="fr-FR"/>
        </a:p>
      </dgm:t>
    </dgm:pt>
    <dgm:pt modelId="{CEFB422D-B79E-4863-BA9D-81B5A3C120EE}" type="pres">
      <dgm:prSet presAssocID="{94D93419-C197-4691-8F4B-AD595BA3B15F}" presName="root" presStyleCnt="0"/>
      <dgm:spPr/>
    </dgm:pt>
    <dgm:pt modelId="{1C52ADA6-C3AB-4F6B-A319-A48AEC82E145}" type="pres">
      <dgm:prSet presAssocID="{94D93419-C197-4691-8F4B-AD595BA3B15F}" presName="rootComposite" presStyleCnt="0"/>
      <dgm:spPr/>
    </dgm:pt>
    <dgm:pt modelId="{12A8236D-9351-4469-90F3-6D7AA9D7CCDA}" type="pres">
      <dgm:prSet presAssocID="{94D93419-C197-4691-8F4B-AD595BA3B15F}" presName="rootText" presStyleLbl="node1" presStyleIdx="0" presStyleCnt="1" custScaleX="191182"/>
      <dgm:spPr/>
      <dgm:t>
        <a:bodyPr/>
        <a:lstStyle/>
        <a:p>
          <a:endParaRPr lang="fr-FR"/>
        </a:p>
      </dgm:t>
    </dgm:pt>
    <dgm:pt modelId="{93A9937F-B267-4BCA-8312-105ED257BE38}" type="pres">
      <dgm:prSet presAssocID="{94D93419-C197-4691-8F4B-AD595BA3B15F}" presName="rootConnector" presStyleLbl="node1" presStyleIdx="0" presStyleCnt="1"/>
      <dgm:spPr/>
      <dgm:t>
        <a:bodyPr/>
        <a:lstStyle/>
        <a:p>
          <a:endParaRPr lang="fr-FR"/>
        </a:p>
      </dgm:t>
    </dgm:pt>
    <dgm:pt modelId="{428F3E62-4682-42DA-9018-E8CC9EB07011}" type="pres">
      <dgm:prSet presAssocID="{94D93419-C197-4691-8F4B-AD595BA3B15F}" presName="childShape" presStyleCnt="0"/>
      <dgm:spPr/>
    </dgm:pt>
  </dgm:ptLst>
  <dgm:cxnLst>
    <dgm:cxn modelId="{958000DA-E428-4403-B6B6-A9512EAE7370}" srcId="{468137B0-2F27-49AA-8021-EBCF9E70189F}" destId="{94D93419-C197-4691-8F4B-AD595BA3B15F}" srcOrd="0" destOrd="0" parTransId="{081D821C-3A5F-4930-AFDA-7D91A88E4DA4}" sibTransId="{227D1151-EFB1-4929-BF8E-0DB3AB224546}"/>
    <dgm:cxn modelId="{231CB075-C580-42F9-862B-D092D7C6030A}" type="presOf" srcId="{94D93419-C197-4691-8F4B-AD595BA3B15F}" destId="{93A9937F-B267-4BCA-8312-105ED257BE38}" srcOrd="1" destOrd="0" presId="urn:microsoft.com/office/officeart/2005/8/layout/hierarchy3"/>
    <dgm:cxn modelId="{92EE5BC9-536E-4FFC-B7A5-8E56DDCCE89A}" type="presOf" srcId="{468137B0-2F27-49AA-8021-EBCF9E70189F}" destId="{C4DC18E2-DA37-4308-9C1D-416FE510565F}" srcOrd="0" destOrd="0" presId="urn:microsoft.com/office/officeart/2005/8/layout/hierarchy3"/>
    <dgm:cxn modelId="{E24F296C-EEAB-4CE1-816A-D05E09FF6C45}" type="presOf" srcId="{94D93419-C197-4691-8F4B-AD595BA3B15F}" destId="{12A8236D-9351-4469-90F3-6D7AA9D7CCDA}" srcOrd="0" destOrd="0" presId="urn:microsoft.com/office/officeart/2005/8/layout/hierarchy3"/>
    <dgm:cxn modelId="{8B92F0FB-B300-4F16-A5F5-92A545E48616}" type="presParOf" srcId="{C4DC18E2-DA37-4308-9C1D-416FE510565F}" destId="{CEFB422D-B79E-4863-BA9D-81B5A3C120EE}" srcOrd="0" destOrd="0" presId="urn:microsoft.com/office/officeart/2005/8/layout/hierarchy3"/>
    <dgm:cxn modelId="{C9B159B0-BB00-420A-A095-C3543BF14B44}" type="presParOf" srcId="{CEFB422D-B79E-4863-BA9D-81B5A3C120EE}" destId="{1C52ADA6-C3AB-4F6B-A319-A48AEC82E145}" srcOrd="0" destOrd="0" presId="urn:microsoft.com/office/officeart/2005/8/layout/hierarchy3"/>
    <dgm:cxn modelId="{6D19DB8C-BDAC-4D3B-A831-55A03FE19BBD}" type="presParOf" srcId="{1C52ADA6-C3AB-4F6B-A319-A48AEC82E145}" destId="{12A8236D-9351-4469-90F3-6D7AA9D7CCDA}" srcOrd="0" destOrd="0" presId="urn:microsoft.com/office/officeart/2005/8/layout/hierarchy3"/>
    <dgm:cxn modelId="{DDF57D7D-5848-432D-A78D-0E48C09D11E3}" type="presParOf" srcId="{1C52ADA6-C3AB-4F6B-A319-A48AEC82E145}" destId="{93A9937F-B267-4BCA-8312-105ED257BE38}" srcOrd="1" destOrd="0" presId="urn:microsoft.com/office/officeart/2005/8/layout/hierarchy3"/>
    <dgm:cxn modelId="{DEA6C8AC-74E0-4860-B27E-E4076720FAC9}" type="presParOf" srcId="{CEFB422D-B79E-4863-BA9D-81B5A3C120EE}" destId="{428F3E62-4682-42DA-9018-E8CC9EB07011}"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8BAFA3-5D2F-404A-B8B4-E48236F0C0D0}"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fr-FR"/>
        </a:p>
      </dgm:t>
    </dgm:pt>
    <dgm:pt modelId="{42B372BA-5850-424A-A0B4-27C7DD99F858}">
      <dgm:prSet/>
      <dgm:spPr>
        <a:solidFill>
          <a:schemeClr val="accent3">
            <a:lumMod val="60000"/>
            <a:lumOff val="40000"/>
          </a:schemeClr>
        </a:solidFill>
      </dgm:spPr>
      <dgm:t>
        <a:bodyPr/>
        <a:lstStyle/>
        <a:p>
          <a:pPr rtl="0"/>
          <a:r>
            <a:rPr lang="fr-FR" b="0" i="0" dirty="0" smtClean="0"/>
            <a:t>créer un compte Inscrivez vous rapidement et gratuitement.</a:t>
          </a:r>
          <a:endParaRPr lang="fr-FR" dirty="0"/>
        </a:p>
      </dgm:t>
    </dgm:pt>
    <dgm:pt modelId="{15C9AFC6-40DC-46AE-A0E3-D3C33DF78DFE}" type="parTrans" cxnId="{2C0497B7-C0CF-4620-8608-390D0DFCF28F}">
      <dgm:prSet/>
      <dgm:spPr/>
      <dgm:t>
        <a:bodyPr/>
        <a:lstStyle/>
        <a:p>
          <a:endParaRPr lang="fr-FR"/>
        </a:p>
      </dgm:t>
    </dgm:pt>
    <dgm:pt modelId="{97D25AA7-C57C-4F98-B8C4-29E4E2DE21CB}" type="sibTrans" cxnId="{2C0497B7-C0CF-4620-8608-390D0DFCF28F}">
      <dgm:prSet/>
      <dgm:spPr/>
      <dgm:t>
        <a:bodyPr/>
        <a:lstStyle/>
        <a:p>
          <a:endParaRPr lang="fr-FR"/>
        </a:p>
      </dgm:t>
    </dgm:pt>
    <dgm:pt modelId="{C564B441-F9A1-4785-8B63-B486F73F9A3D}">
      <dgm:prSet/>
      <dgm:spPr>
        <a:solidFill>
          <a:schemeClr val="accent3">
            <a:lumMod val="60000"/>
            <a:lumOff val="40000"/>
          </a:schemeClr>
        </a:solidFill>
      </dgm:spPr>
      <dgm:t>
        <a:bodyPr/>
        <a:lstStyle/>
        <a:p>
          <a:pPr rtl="0"/>
          <a:r>
            <a:rPr lang="fr-FR" b="0" i="0" dirty="0" smtClean="0"/>
            <a:t>Publier une mission Décrivez votre besoin en quelques clics.</a:t>
          </a:r>
          <a:endParaRPr lang="fr-FR" dirty="0"/>
        </a:p>
      </dgm:t>
    </dgm:pt>
    <dgm:pt modelId="{64EC0E8C-1644-45AB-9614-AC6DC6726A00}" type="parTrans" cxnId="{4A177023-6486-4789-9055-178A715A6128}">
      <dgm:prSet/>
      <dgm:spPr/>
      <dgm:t>
        <a:bodyPr/>
        <a:lstStyle/>
        <a:p>
          <a:endParaRPr lang="fr-FR"/>
        </a:p>
      </dgm:t>
    </dgm:pt>
    <dgm:pt modelId="{4029BD19-5993-40F0-B1F6-57C4EB0B2865}" type="sibTrans" cxnId="{4A177023-6486-4789-9055-178A715A6128}">
      <dgm:prSet/>
      <dgm:spPr/>
      <dgm:t>
        <a:bodyPr/>
        <a:lstStyle/>
        <a:p>
          <a:endParaRPr lang="fr-FR"/>
        </a:p>
      </dgm:t>
    </dgm:pt>
    <dgm:pt modelId="{F32816FB-788E-4FFA-AADB-8C135F4ABF91}" type="pres">
      <dgm:prSet presAssocID="{788BAFA3-5D2F-404A-B8B4-E48236F0C0D0}" presName="Name0" presStyleCnt="0">
        <dgm:presLayoutVars>
          <dgm:dir/>
          <dgm:animLvl val="lvl"/>
          <dgm:resizeHandles val="exact"/>
        </dgm:presLayoutVars>
      </dgm:prSet>
      <dgm:spPr/>
      <dgm:t>
        <a:bodyPr/>
        <a:lstStyle/>
        <a:p>
          <a:endParaRPr lang="fr-FR"/>
        </a:p>
      </dgm:t>
    </dgm:pt>
    <dgm:pt modelId="{B13FEBBA-740A-4D8A-9E07-A64351C2D38E}" type="pres">
      <dgm:prSet presAssocID="{42B372BA-5850-424A-A0B4-27C7DD99F858}" presName="linNode" presStyleCnt="0"/>
      <dgm:spPr/>
    </dgm:pt>
    <dgm:pt modelId="{F117BB4D-0C69-4269-BC4A-F8010C44586F}" type="pres">
      <dgm:prSet presAssocID="{42B372BA-5850-424A-A0B4-27C7DD99F858}" presName="parentText" presStyleLbl="node1" presStyleIdx="0" presStyleCnt="2" custScaleX="217613" custLinFactNeighborX="5252" custLinFactNeighborY="-4471">
        <dgm:presLayoutVars>
          <dgm:chMax val="1"/>
          <dgm:bulletEnabled val="1"/>
        </dgm:presLayoutVars>
      </dgm:prSet>
      <dgm:spPr/>
      <dgm:t>
        <a:bodyPr/>
        <a:lstStyle/>
        <a:p>
          <a:endParaRPr lang="fr-FR"/>
        </a:p>
      </dgm:t>
    </dgm:pt>
    <dgm:pt modelId="{72639F48-B2CC-42CA-A7EB-333F63E7BF08}" type="pres">
      <dgm:prSet presAssocID="{97D25AA7-C57C-4F98-B8C4-29E4E2DE21CB}" presName="sp" presStyleCnt="0"/>
      <dgm:spPr/>
    </dgm:pt>
    <dgm:pt modelId="{B3BFAC15-8795-41DF-A1C9-D66E3AA8D3EF}" type="pres">
      <dgm:prSet presAssocID="{C564B441-F9A1-4785-8B63-B486F73F9A3D}" presName="linNode" presStyleCnt="0"/>
      <dgm:spPr/>
    </dgm:pt>
    <dgm:pt modelId="{22351E9A-A907-4804-9572-DD06B0082757}" type="pres">
      <dgm:prSet presAssocID="{C564B441-F9A1-4785-8B63-B486F73F9A3D}" presName="parentText" presStyleLbl="node1" presStyleIdx="1" presStyleCnt="2" custScaleX="222530">
        <dgm:presLayoutVars>
          <dgm:chMax val="1"/>
          <dgm:bulletEnabled val="1"/>
        </dgm:presLayoutVars>
      </dgm:prSet>
      <dgm:spPr/>
      <dgm:t>
        <a:bodyPr/>
        <a:lstStyle/>
        <a:p>
          <a:endParaRPr lang="fr-FR"/>
        </a:p>
      </dgm:t>
    </dgm:pt>
  </dgm:ptLst>
  <dgm:cxnLst>
    <dgm:cxn modelId="{962FAA69-5597-4EC5-985A-19CA046429DC}" type="presOf" srcId="{42B372BA-5850-424A-A0B4-27C7DD99F858}" destId="{F117BB4D-0C69-4269-BC4A-F8010C44586F}" srcOrd="0" destOrd="0" presId="urn:microsoft.com/office/officeart/2005/8/layout/vList5"/>
    <dgm:cxn modelId="{4A177023-6486-4789-9055-178A715A6128}" srcId="{788BAFA3-5D2F-404A-B8B4-E48236F0C0D0}" destId="{C564B441-F9A1-4785-8B63-B486F73F9A3D}" srcOrd="1" destOrd="0" parTransId="{64EC0E8C-1644-45AB-9614-AC6DC6726A00}" sibTransId="{4029BD19-5993-40F0-B1F6-57C4EB0B2865}"/>
    <dgm:cxn modelId="{57103DDB-CF8C-4ABB-88AD-614B61F7865B}" type="presOf" srcId="{788BAFA3-5D2F-404A-B8B4-E48236F0C0D0}" destId="{F32816FB-788E-4FFA-AADB-8C135F4ABF91}" srcOrd="0" destOrd="0" presId="urn:microsoft.com/office/officeart/2005/8/layout/vList5"/>
    <dgm:cxn modelId="{2647A5C5-80C4-4CC9-8B0B-3B5250B6FDAD}" type="presOf" srcId="{C564B441-F9A1-4785-8B63-B486F73F9A3D}" destId="{22351E9A-A907-4804-9572-DD06B0082757}" srcOrd="0" destOrd="0" presId="urn:microsoft.com/office/officeart/2005/8/layout/vList5"/>
    <dgm:cxn modelId="{2C0497B7-C0CF-4620-8608-390D0DFCF28F}" srcId="{788BAFA3-5D2F-404A-B8B4-E48236F0C0D0}" destId="{42B372BA-5850-424A-A0B4-27C7DD99F858}" srcOrd="0" destOrd="0" parTransId="{15C9AFC6-40DC-46AE-A0E3-D3C33DF78DFE}" sibTransId="{97D25AA7-C57C-4F98-B8C4-29E4E2DE21CB}"/>
    <dgm:cxn modelId="{A5590163-FA47-41DE-B935-72048BB3DC69}" type="presParOf" srcId="{F32816FB-788E-4FFA-AADB-8C135F4ABF91}" destId="{B13FEBBA-740A-4D8A-9E07-A64351C2D38E}" srcOrd="0" destOrd="0" presId="urn:microsoft.com/office/officeart/2005/8/layout/vList5"/>
    <dgm:cxn modelId="{72CBC8FE-1F0D-4AC0-9AEA-86D7F89AD5CB}" type="presParOf" srcId="{B13FEBBA-740A-4D8A-9E07-A64351C2D38E}" destId="{F117BB4D-0C69-4269-BC4A-F8010C44586F}" srcOrd="0" destOrd="0" presId="urn:microsoft.com/office/officeart/2005/8/layout/vList5"/>
    <dgm:cxn modelId="{D9BA9A3A-0BED-4029-AA82-78AB6A181EEE}" type="presParOf" srcId="{F32816FB-788E-4FFA-AADB-8C135F4ABF91}" destId="{72639F48-B2CC-42CA-A7EB-333F63E7BF08}" srcOrd="1" destOrd="0" presId="urn:microsoft.com/office/officeart/2005/8/layout/vList5"/>
    <dgm:cxn modelId="{297A6072-DD08-4F7C-BDB4-8BCACDC6EAAE}" type="presParOf" srcId="{F32816FB-788E-4FFA-AADB-8C135F4ABF91}" destId="{B3BFAC15-8795-41DF-A1C9-D66E3AA8D3EF}" srcOrd="2" destOrd="0" presId="urn:microsoft.com/office/officeart/2005/8/layout/vList5"/>
    <dgm:cxn modelId="{236697D1-FD25-4F52-8C93-396186B66A10}" type="presParOf" srcId="{B3BFAC15-8795-41DF-A1C9-D66E3AA8D3EF}" destId="{22351E9A-A907-4804-9572-DD06B0082757}"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47C7A5-8E08-45B6-9C2A-C2D1A8B758CB}"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fr-FR"/>
        </a:p>
      </dgm:t>
    </dgm:pt>
    <dgm:pt modelId="{FD930D0C-C32F-463B-A37A-BBB5D9D1FCCF}">
      <dgm:prSet/>
      <dgm:spPr>
        <a:solidFill>
          <a:schemeClr val="accent3">
            <a:lumMod val="60000"/>
            <a:lumOff val="40000"/>
          </a:schemeClr>
        </a:solidFill>
      </dgm:spPr>
      <dgm:t>
        <a:bodyPr/>
        <a:lstStyle/>
        <a:p>
          <a:pPr rtl="0"/>
          <a:r>
            <a:rPr lang="fr-FR" b="0" i="0" dirty="0" smtClean="0"/>
            <a:t>Trouver un talent Choisissez parmi les meilleurs freelances.</a:t>
          </a:r>
          <a:endParaRPr lang="fr-FR" dirty="0"/>
        </a:p>
      </dgm:t>
    </dgm:pt>
    <dgm:pt modelId="{50CCD13F-96C0-4678-B822-A1B08F85B419}" type="parTrans" cxnId="{6D7F05B2-0EC2-4E31-872F-078E4BA49D8E}">
      <dgm:prSet/>
      <dgm:spPr/>
      <dgm:t>
        <a:bodyPr/>
        <a:lstStyle/>
        <a:p>
          <a:endParaRPr lang="fr-FR"/>
        </a:p>
      </dgm:t>
    </dgm:pt>
    <dgm:pt modelId="{66CF3A13-A22B-4365-B81D-9B31B12D977B}" type="sibTrans" cxnId="{6D7F05B2-0EC2-4E31-872F-078E4BA49D8E}">
      <dgm:prSet/>
      <dgm:spPr/>
      <dgm:t>
        <a:bodyPr/>
        <a:lstStyle/>
        <a:p>
          <a:endParaRPr lang="fr-FR"/>
        </a:p>
      </dgm:t>
    </dgm:pt>
    <dgm:pt modelId="{469FAF76-165A-48CC-B198-50747E035B90}">
      <dgm:prSet/>
      <dgm:spPr>
        <a:solidFill>
          <a:schemeClr val="accent3">
            <a:lumMod val="60000"/>
            <a:lumOff val="40000"/>
          </a:schemeClr>
        </a:solidFill>
      </dgm:spPr>
      <dgm:t>
        <a:bodyPr/>
        <a:lstStyle/>
        <a:p>
          <a:pPr rtl="0"/>
          <a:r>
            <a:rPr lang="fr-FR" b="0" i="0" dirty="0" smtClean="0"/>
            <a:t>collaborer Travailler efficacement et en toute sécurité.</a:t>
          </a:r>
          <a:endParaRPr lang="fr-FR" dirty="0"/>
        </a:p>
      </dgm:t>
    </dgm:pt>
    <dgm:pt modelId="{716B907F-9073-40F3-8101-E212E04188FC}" type="parTrans" cxnId="{39A4D959-8D37-4543-927F-36FD2B1ECD0B}">
      <dgm:prSet/>
      <dgm:spPr/>
      <dgm:t>
        <a:bodyPr/>
        <a:lstStyle/>
        <a:p>
          <a:endParaRPr lang="fr-FR"/>
        </a:p>
      </dgm:t>
    </dgm:pt>
    <dgm:pt modelId="{CFDEC52F-70B1-4BDF-B976-3FAECFE065F3}" type="sibTrans" cxnId="{39A4D959-8D37-4543-927F-36FD2B1ECD0B}">
      <dgm:prSet/>
      <dgm:spPr/>
      <dgm:t>
        <a:bodyPr/>
        <a:lstStyle/>
        <a:p>
          <a:endParaRPr lang="fr-FR"/>
        </a:p>
      </dgm:t>
    </dgm:pt>
    <dgm:pt modelId="{8BF14801-7A9F-40E6-A3D0-37A10FCB3D75}" type="pres">
      <dgm:prSet presAssocID="{4C47C7A5-8E08-45B6-9C2A-C2D1A8B758CB}" presName="Name0" presStyleCnt="0">
        <dgm:presLayoutVars>
          <dgm:dir/>
          <dgm:animLvl val="lvl"/>
          <dgm:resizeHandles val="exact"/>
        </dgm:presLayoutVars>
      </dgm:prSet>
      <dgm:spPr/>
      <dgm:t>
        <a:bodyPr/>
        <a:lstStyle/>
        <a:p>
          <a:endParaRPr lang="fr-FR"/>
        </a:p>
      </dgm:t>
    </dgm:pt>
    <dgm:pt modelId="{6F7A25E8-B720-4485-8D97-1A0F11AE10AC}" type="pres">
      <dgm:prSet presAssocID="{FD930D0C-C32F-463B-A37A-BBB5D9D1FCCF}" presName="linNode" presStyleCnt="0"/>
      <dgm:spPr/>
    </dgm:pt>
    <dgm:pt modelId="{3C4F9FBA-0B39-4406-8862-968EC467EE25}" type="pres">
      <dgm:prSet presAssocID="{FD930D0C-C32F-463B-A37A-BBB5D9D1FCCF}" presName="parentText" presStyleLbl="node1" presStyleIdx="0" presStyleCnt="2" custScaleX="225936" custLinFactNeighborX="4566" custLinFactNeighborY="-23855">
        <dgm:presLayoutVars>
          <dgm:chMax val="1"/>
          <dgm:bulletEnabled val="1"/>
        </dgm:presLayoutVars>
      </dgm:prSet>
      <dgm:spPr/>
      <dgm:t>
        <a:bodyPr/>
        <a:lstStyle/>
        <a:p>
          <a:endParaRPr lang="fr-FR"/>
        </a:p>
      </dgm:t>
    </dgm:pt>
    <dgm:pt modelId="{EFFC9E6B-E52D-4268-BF50-F33AE6C27440}" type="pres">
      <dgm:prSet presAssocID="{66CF3A13-A22B-4365-B81D-9B31B12D977B}" presName="sp" presStyleCnt="0"/>
      <dgm:spPr/>
    </dgm:pt>
    <dgm:pt modelId="{7C8E9034-53FB-479A-B022-E542BE89CB00}" type="pres">
      <dgm:prSet presAssocID="{469FAF76-165A-48CC-B198-50747E035B90}" presName="linNode" presStyleCnt="0"/>
      <dgm:spPr/>
    </dgm:pt>
    <dgm:pt modelId="{8C460E93-BB80-4BC5-A3D9-10687FA50389}" type="pres">
      <dgm:prSet presAssocID="{469FAF76-165A-48CC-B198-50747E035B90}" presName="parentText" presStyleLbl="node1" presStyleIdx="1" presStyleCnt="2" custScaleX="226951">
        <dgm:presLayoutVars>
          <dgm:chMax val="1"/>
          <dgm:bulletEnabled val="1"/>
        </dgm:presLayoutVars>
      </dgm:prSet>
      <dgm:spPr/>
      <dgm:t>
        <a:bodyPr/>
        <a:lstStyle/>
        <a:p>
          <a:endParaRPr lang="fr-FR"/>
        </a:p>
      </dgm:t>
    </dgm:pt>
  </dgm:ptLst>
  <dgm:cxnLst>
    <dgm:cxn modelId="{6D7F05B2-0EC2-4E31-872F-078E4BA49D8E}" srcId="{4C47C7A5-8E08-45B6-9C2A-C2D1A8B758CB}" destId="{FD930D0C-C32F-463B-A37A-BBB5D9D1FCCF}" srcOrd="0" destOrd="0" parTransId="{50CCD13F-96C0-4678-B822-A1B08F85B419}" sibTransId="{66CF3A13-A22B-4365-B81D-9B31B12D977B}"/>
    <dgm:cxn modelId="{7D44BAD7-B2EF-427E-9A35-3ADF13999AC7}" type="presOf" srcId="{469FAF76-165A-48CC-B198-50747E035B90}" destId="{8C460E93-BB80-4BC5-A3D9-10687FA50389}" srcOrd="0" destOrd="0" presId="urn:microsoft.com/office/officeart/2005/8/layout/vList5"/>
    <dgm:cxn modelId="{39A4D959-8D37-4543-927F-36FD2B1ECD0B}" srcId="{4C47C7A5-8E08-45B6-9C2A-C2D1A8B758CB}" destId="{469FAF76-165A-48CC-B198-50747E035B90}" srcOrd="1" destOrd="0" parTransId="{716B907F-9073-40F3-8101-E212E04188FC}" sibTransId="{CFDEC52F-70B1-4BDF-B976-3FAECFE065F3}"/>
    <dgm:cxn modelId="{B4B4C5D2-C20C-4AD6-BD4E-6B18DCF64013}" type="presOf" srcId="{FD930D0C-C32F-463B-A37A-BBB5D9D1FCCF}" destId="{3C4F9FBA-0B39-4406-8862-968EC467EE25}" srcOrd="0" destOrd="0" presId="urn:microsoft.com/office/officeart/2005/8/layout/vList5"/>
    <dgm:cxn modelId="{156FFEF5-C0A7-4111-A6E1-767D14F78CBE}" type="presOf" srcId="{4C47C7A5-8E08-45B6-9C2A-C2D1A8B758CB}" destId="{8BF14801-7A9F-40E6-A3D0-37A10FCB3D75}" srcOrd="0" destOrd="0" presId="urn:microsoft.com/office/officeart/2005/8/layout/vList5"/>
    <dgm:cxn modelId="{007D53F8-6A3D-40CB-893E-E7C90B7DE101}" type="presParOf" srcId="{8BF14801-7A9F-40E6-A3D0-37A10FCB3D75}" destId="{6F7A25E8-B720-4485-8D97-1A0F11AE10AC}" srcOrd="0" destOrd="0" presId="urn:microsoft.com/office/officeart/2005/8/layout/vList5"/>
    <dgm:cxn modelId="{D384859A-53C5-4A33-A0A7-2C58CB3A6E5A}" type="presParOf" srcId="{6F7A25E8-B720-4485-8D97-1A0F11AE10AC}" destId="{3C4F9FBA-0B39-4406-8862-968EC467EE25}" srcOrd="0" destOrd="0" presId="urn:microsoft.com/office/officeart/2005/8/layout/vList5"/>
    <dgm:cxn modelId="{4CD4B35B-045D-437F-8A43-24B57D0DD805}" type="presParOf" srcId="{8BF14801-7A9F-40E6-A3D0-37A10FCB3D75}" destId="{EFFC9E6B-E52D-4268-BF50-F33AE6C27440}" srcOrd="1" destOrd="0" presId="urn:microsoft.com/office/officeart/2005/8/layout/vList5"/>
    <dgm:cxn modelId="{2342669F-F7B4-49CF-94C3-9844C6B2D856}" type="presParOf" srcId="{8BF14801-7A9F-40E6-A3D0-37A10FCB3D75}" destId="{7C8E9034-53FB-479A-B022-E542BE89CB00}" srcOrd="2" destOrd="0" presId="urn:microsoft.com/office/officeart/2005/8/layout/vList5"/>
    <dgm:cxn modelId="{E10483CE-896A-4461-AC50-E873BBB6D164}" type="presParOf" srcId="{7C8E9034-53FB-479A-B022-E542BE89CB00}" destId="{8C460E93-BB80-4BC5-A3D9-10687FA50389}" srcOrd="0" destOrd="0" presId="urn:microsoft.com/office/officeart/2005/8/layout/vList5"/>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A8236D-9351-4469-90F3-6D7AA9D7CCDA}">
      <dsp:nvSpPr>
        <dsp:cNvPr id="0" name=""/>
        <dsp:cNvSpPr/>
      </dsp:nvSpPr>
      <dsp:spPr>
        <a:xfrm>
          <a:off x="2029045" y="1110"/>
          <a:ext cx="5346632" cy="1398309"/>
        </a:xfrm>
        <a:prstGeom prst="roundRect">
          <a:avLst>
            <a:gd name="adj" fmla="val 10000"/>
          </a:avLst>
        </a:prstGeom>
        <a:solidFill>
          <a:schemeClr val="accent3">
            <a:lumMod val="5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3825" tIns="82550" rIns="123825" bIns="82550" numCol="1" spcCol="1270" anchor="ctr" anchorCtr="0">
          <a:noAutofit/>
        </a:bodyPr>
        <a:lstStyle/>
        <a:p>
          <a:pPr lvl="0" algn="ctr" defTabSz="2889250" rtl="0">
            <a:lnSpc>
              <a:spcPct val="90000"/>
            </a:lnSpc>
            <a:spcBef>
              <a:spcPct val="0"/>
            </a:spcBef>
            <a:spcAft>
              <a:spcPct val="35000"/>
            </a:spcAft>
          </a:pPr>
          <a:r>
            <a:rPr lang="fr-SN" sz="6500" b="1" i="0" kern="1200" dirty="0" smtClean="0"/>
            <a:t>NAVBAR</a:t>
          </a:r>
          <a:endParaRPr lang="fr-FR" sz="6500" kern="1200" dirty="0"/>
        </a:p>
      </dsp:txBody>
      <dsp:txXfrm>
        <a:off x="2070000" y="42065"/>
        <a:ext cx="5264722" cy="1316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7BB4D-0C69-4269-BC4A-F8010C44586F}">
      <dsp:nvSpPr>
        <dsp:cNvPr id="0" name=""/>
        <dsp:cNvSpPr/>
      </dsp:nvSpPr>
      <dsp:spPr>
        <a:xfrm>
          <a:off x="520320" y="0"/>
          <a:ext cx="3444121" cy="2090788"/>
        </a:xfrm>
        <a:prstGeom prst="roundRect">
          <a:avLst/>
        </a:prstGeom>
        <a:solidFill>
          <a:schemeClr val="accent3">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57150" rIns="114300" bIns="57150" numCol="1" spcCol="1270" anchor="ctr" anchorCtr="0">
          <a:noAutofit/>
        </a:bodyPr>
        <a:lstStyle/>
        <a:p>
          <a:pPr lvl="0" algn="ctr" defTabSz="1333500" rtl="0">
            <a:lnSpc>
              <a:spcPct val="90000"/>
            </a:lnSpc>
            <a:spcBef>
              <a:spcPct val="0"/>
            </a:spcBef>
            <a:spcAft>
              <a:spcPct val="35000"/>
            </a:spcAft>
          </a:pPr>
          <a:r>
            <a:rPr lang="fr-FR" sz="3000" b="0" i="0" kern="1200" dirty="0" smtClean="0"/>
            <a:t>créer un compte Inscrivez vous rapidement et gratuitement.</a:t>
          </a:r>
          <a:endParaRPr lang="fr-FR" sz="3000" kern="1200" dirty="0"/>
        </a:p>
      </dsp:txBody>
      <dsp:txXfrm>
        <a:off x="622384" y="102064"/>
        <a:ext cx="3239993" cy="1886660"/>
      </dsp:txXfrm>
    </dsp:sp>
    <dsp:sp modelId="{22351E9A-A907-4804-9572-DD06B0082757}">
      <dsp:nvSpPr>
        <dsp:cNvPr id="0" name=""/>
        <dsp:cNvSpPr/>
      </dsp:nvSpPr>
      <dsp:spPr>
        <a:xfrm>
          <a:off x="437198" y="2195380"/>
          <a:ext cx="3521942" cy="2090788"/>
        </a:xfrm>
        <a:prstGeom prst="roundRect">
          <a:avLst/>
        </a:prstGeom>
        <a:solidFill>
          <a:schemeClr val="accent3">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55245" rIns="110490" bIns="55245" numCol="1" spcCol="1270" anchor="ctr" anchorCtr="0">
          <a:noAutofit/>
        </a:bodyPr>
        <a:lstStyle/>
        <a:p>
          <a:pPr lvl="0" algn="ctr" defTabSz="1289050" rtl="0">
            <a:lnSpc>
              <a:spcPct val="90000"/>
            </a:lnSpc>
            <a:spcBef>
              <a:spcPct val="0"/>
            </a:spcBef>
            <a:spcAft>
              <a:spcPct val="35000"/>
            </a:spcAft>
          </a:pPr>
          <a:r>
            <a:rPr lang="fr-FR" sz="2900" b="0" i="0" kern="1200" dirty="0" smtClean="0"/>
            <a:t>Publier une mission Décrivez votre besoin en quelques clics.</a:t>
          </a:r>
          <a:endParaRPr lang="fr-FR" sz="2900" kern="1200" dirty="0"/>
        </a:p>
      </dsp:txBody>
      <dsp:txXfrm>
        <a:off x="539262" y="2297444"/>
        <a:ext cx="3317814" cy="18866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4F9FBA-0B39-4406-8862-968EC467EE25}">
      <dsp:nvSpPr>
        <dsp:cNvPr id="0" name=""/>
        <dsp:cNvSpPr/>
      </dsp:nvSpPr>
      <dsp:spPr>
        <a:xfrm>
          <a:off x="491190" y="0"/>
          <a:ext cx="3701793" cy="2090788"/>
        </a:xfrm>
        <a:prstGeom prst="roundRect">
          <a:avLst/>
        </a:prstGeom>
        <a:solidFill>
          <a:schemeClr val="accent3">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57150" rIns="114300" bIns="57150" numCol="1" spcCol="1270" anchor="ctr" anchorCtr="0">
          <a:noAutofit/>
        </a:bodyPr>
        <a:lstStyle/>
        <a:p>
          <a:pPr lvl="0" algn="ctr" defTabSz="1333500" rtl="0">
            <a:lnSpc>
              <a:spcPct val="90000"/>
            </a:lnSpc>
            <a:spcBef>
              <a:spcPct val="0"/>
            </a:spcBef>
            <a:spcAft>
              <a:spcPct val="35000"/>
            </a:spcAft>
          </a:pPr>
          <a:r>
            <a:rPr lang="fr-FR" sz="3000" b="0" i="0" kern="1200" dirty="0" smtClean="0"/>
            <a:t>Trouver un talent Choisissez parmi les meilleurs freelances.</a:t>
          </a:r>
          <a:endParaRPr lang="fr-FR" sz="3000" kern="1200" dirty="0"/>
        </a:p>
      </dsp:txBody>
      <dsp:txXfrm>
        <a:off x="593254" y="102064"/>
        <a:ext cx="3497665" cy="1886660"/>
      </dsp:txXfrm>
    </dsp:sp>
    <dsp:sp modelId="{8C460E93-BB80-4BC5-A3D9-10687FA50389}">
      <dsp:nvSpPr>
        <dsp:cNvPr id="0" name=""/>
        <dsp:cNvSpPr/>
      </dsp:nvSpPr>
      <dsp:spPr>
        <a:xfrm>
          <a:off x="416379" y="2195380"/>
          <a:ext cx="3718423" cy="2090788"/>
        </a:xfrm>
        <a:prstGeom prst="roundRect">
          <a:avLst/>
        </a:prstGeom>
        <a:solidFill>
          <a:schemeClr val="accent3">
            <a:lumMod val="60000"/>
            <a:lumOff val="4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55245" rIns="110490" bIns="55245" numCol="1" spcCol="1270" anchor="ctr" anchorCtr="0">
          <a:noAutofit/>
        </a:bodyPr>
        <a:lstStyle/>
        <a:p>
          <a:pPr lvl="0" algn="ctr" defTabSz="1289050" rtl="0">
            <a:lnSpc>
              <a:spcPct val="90000"/>
            </a:lnSpc>
            <a:spcBef>
              <a:spcPct val="0"/>
            </a:spcBef>
            <a:spcAft>
              <a:spcPct val="35000"/>
            </a:spcAft>
          </a:pPr>
          <a:r>
            <a:rPr lang="fr-FR" sz="2900" b="0" i="0" kern="1200" dirty="0" smtClean="0"/>
            <a:t>collaborer Travailler efficacement et en toute sécurité.</a:t>
          </a:r>
          <a:endParaRPr lang="fr-FR" sz="2900" kern="1200" dirty="0"/>
        </a:p>
      </dsp:txBody>
      <dsp:txXfrm>
        <a:off x="518443" y="2297444"/>
        <a:ext cx="3514295" cy="18866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fr-FR" smtClean="0"/>
              <a:t>Modifiez le style du titre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AAD347D-5ACD-4C99-B74B-A9C85AD731AF}" type="datetimeFigureOut">
              <a:rPr lang="en-US" smtClean="0"/>
              <a:t>6/28/2026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298869819"/>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nchor="ct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267201158"/>
      </p:ext>
    </p:extLst>
  </p:cSld>
  <p:clrMapOvr>
    <a:masterClrMapping/>
  </p:clrMapOvr>
  <p:transition spd="slow">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fr-FR" smtClean="0"/>
              <a:t>Modifiez le style du titre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9796027F-7875-4030-9381-8BD8C4F21935}"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969773007"/>
      </p:ext>
    </p:extLst>
  </p:cSld>
  <p:clrMapOvr>
    <a:masterClrMapping/>
  </p:clrMapOvr>
  <p:transition spd="slow">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6/28/2026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09976584"/>
      </p:ext>
    </p:extLst>
  </p:cSld>
  <p:clrMapOvr>
    <a:masterClrMapping/>
  </p:clrMapOvr>
  <p:transition spd="slow">
    <p:wip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6/28/2026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523018488"/>
      </p:ext>
    </p:extLst>
  </p:cSld>
  <p:clrMapOvr>
    <a:masterClrMapping/>
  </p:clrMapOvr>
  <p:transition spd="slow">
    <p:wip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061091191"/>
      </p:ext>
    </p:extLst>
  </p:cSld>
  <p:clrMapOvr>
    <a:masterClrMapping/>
  </p:clrMapOvr>
  <p:transition spd="slow">
    <p:wip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474574967"/>
      </p:ext>
    </p:extLst>
  </p:cSld>
  <p:clrMapOvr>
    <a:masterClrMapping/>
  </p:clrMapOvr>
  <p:transition spd="slow">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563203087"/>
      </p:ext>
    </p:extLst>
  </p:cSld>
  <p:clrMapOvr>
    <a:masterClrMapping/>
  </p:clrMapOvr>
  <p:transition spd="slow">
    <p:wip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fr-FR" smtClean="0"/>
              <a:t>Modifiez le style du titre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562637145"/>
      </p:ext>
    </p:extLst>
  </p:cSld>
  <p:clrMapOvr>
    <a:masterClrMapping/>
  </p:clrMapOvr>
  <p:transition spd="slow">
    <p:wip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581133944"/>
      </p:ext>
    </p:extLst>
  </p:cSld>
  <p:clrMapOvr>
    <a:masterClrMapping/>
  </p:clrMapOvr>
  <p:transition spd="slow">
    <p:wip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95033591"/>
      </p:ext>
    </p:extLst>
  </p:cSld>
  <p:clrMapOvr>
    <a:masterClrMapping/>
  </p:clrMapOvr>
  <p:transition spd="slow">
    <p:wip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63547963"/>
      </p:ext>
    </p:extLst>
  </p:cSld>
  <p:clrMapOvr>
    <a:masterClrMapping/>
  </p:clrMapOvr>
  <p:transition spd="slow">
    <p:wip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189955941"/>
      </p:ext>
    </p:extLst>
  </p:cSld>
  <p:clrMapOvr>
    <a:masterClrMapping/>
  </p:clrMapOvr>
  <p:transition spd="slow">
    <p:wip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3066640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fr-FR" smtClean="0"/>
              <a:t>Modifiez le style du titre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44054138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
        <p:nvSpPr>
          <p:cNvPr id="8" name="Title 1"/>
          <p:cNvSpPr>
            <a:spLocks noGrp="1"/>
          </p:cNvSpPr>
          <p:nvPr>
            <p:ph type="title"/>
          </p:nvPr>
        </p:nvSpPr>
        <p:spPr>
          <a:xfrm>
            <a:off x="685801" y="609600"/>
            <a:ext cx="10131425" cy="1456267"/>
          </a:xfrm>
        </p:spPr>
        <p:txBody>
          <a:bodyPr/>
          <a:lstStyle/>
          <a:p>
            <a:r>
              <a:rPr lang="fr-FR" smtClean="0"/>
              <a:t>Modifiez le style du titre</a:t>
            </a:r>
            <a:endParaRPr lang="en-US" dirty="0"/>
          </a:p>
        </p:txBody>
      </p:sp>
    </p:spTree>
    <p:extLst>
      <p:ext uri="{BB962C8B-B14F-4D97-AF65-F5344CB8AC3E}">
        <p14:creationId xmlns:p14="http://schemas.microsoft.com/office/powerpoint/2010/main" val="1077283190"/>
      </p:ext>
    </p:extLst>
  </p:cSld>
  <p:clrMapOvr>
    <a:masterClrMapping/>
  </p:clrMapOvr>
  <p:transition spd="slow">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87040281"/>
      </p:ext>
    </p:extLst>
  </p:cSld>
  <p:clrMapOvr>
    <a:masterClrMapping/>
  </p:clrMapOvr>
  <p:transition spd="slow">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6/28/2026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412043724"/>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Lst>
  <p:transition spd="slow">
    <p:wipe/>
  </p:transition>
  <p:timing>
    <p:tnLst>
      <p:par>
        <p:cTn id="1" dur="indefinite" restart="never" nodeType="tmRoot"/>
      </p:par>
    </p:tnLst>
  </p:timing>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localhost:52330/tarifs.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localhost:52330/freelances.html" TargetMode="External"/><Relationship Id="rId7" Type="http://schemas.openxmlformats.org/officeDocument/2006/relationships/hyperlink" Target="mailto:ndiayeyakhouba079@gmail.com" TargetMode="External"/><Relationship Id="rId2" Type="http://schemas.openxmlformats.org/officeDocument/2006/relationships/hyperlink" Target="http://localhost:52330/index.html" TargetMode="External"/><Relationship Id="rId1" Type="http://schemas.openxmlformats.org/officeDocument/2006/relationships/slideLayout" Target="../slideLayouts/slideLayout4.xml"/><Relationship Id="rId6" Type="http://schemas.openxmlformats.org/officeDocument/2006/relationships/hyperlink" Target="http://localhost:52330/about.html" TargetMode="External"/><Relationship Id="rId5" Type="http://schemas.openxmlformats.org/officeDocument/2006/relationships/hyperlink" Target="http://localhost:52330/tarifs.html" TargetMode="External"/><Relationship Id="rId4" Type="http://schemas.openxmlformats.org/officeDocument/2006/relationships/hyperlink" Target="http://localhost:52330/contact.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localhost:52330/freelances.html#Marketing" TargetMode="External"/><Relationship Id="rId2" Type="http://schemas.openxmlformats.org/officeDocument/2006/relationships/hyperlink" Target="http://localhost:52330/freelances.html#Designer" TargetMode="Externa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hyperlink" Target="http://localhost:52330/freelances.html#D%C3%A9veloppeur" TargetMode="External"/><Relationship Id="rId4" Type="http://schemas.openxmlformats.org/officeDocument/2006/relationships/hyperlink" Target="http://localhost:52330/freelances.html#Tou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1994" y="1375431"/>
            <a:ext cx="9404723" cy="1400530"/>
          </a:xfrm>
        </p:spPr>
        <p:txBody>
          <a:bodyPr/>
          <a:lstStyle/>
          <a:p>
            <a:r>
              <a:rPr lang="fr-FR" b="1" dirty="0">
                <a:solidFill>
                  <a:schemeClr val="accent3">
                    <a:lumMod val="75000"/>
                  </a:schemeClr>
                </a:solidFill>
              </a:rPr>
              <a:t>SUJET DE PROJET — SEMESTRE 2</a:t>
            </a:r>
          </a:p>
        </p:txBody>
      </p:sp>
      <p:graphicFrame>
        <p:nvGraphicFramePr>
          <p:cNvPr id="3" name="Tableau 2"/>
          <p:cNvGraphicFramePr>
            <a:graphicFrameLocks noGrp="1"/>
          </p:cNvGraphicFramePr>
          <p:nvPr>
            <p:extLst>
              <p:ext uri="{D42A27DB-BD31-4B8C-83A1-F6EECF244321}">
                <p14:modId xmlns:p14="http://schemas.microsoft.com/office/powerpoint/2010/main" val="1969649331"/>
              </p:ext>
            </p:extLst>
          </p:nvPr>
        </p:nvGraphicFramePr>
        <p:xfrm>
          <a:off x="399011" y="2481964"/>
          <a:ext cx="10956173" cy="4259658"/>
        </p:xfrm>
        <a:graphic>
          <a:graphicData uri="http://schemas.openxmlformats.org/drawingml/2006/table">
            <a:tbl>
              <a:tblPr firstRow="1" bandRow="1">
                <a:tableStyleId>{5C22544A-7EE6-4342-B048-85BDC9FD1C3A}</a:tableStyleId>
              </a:tblPr>
              <a:tblGrid>
                <a:gridCol w="10956173"/>
              </a:tblGrid>
              <a:tr h="4259658">
                <a:tc>
                  <a:txBody>
                    <a:bodyPr/>
                    <a:lstStyle/>
                    <a:p>
                      <a:endParaRPr lang="fr-SN" dirty="0" smtClean="0"/>
                    </a:p>
                    <a:p>
                      <a:pPr algn="ctr"/>
                      <a:r>
                        <a:rPr lang="fr-SN" sz="3200" b="1" dirty="0" smtClean="0"/>
                        <a:t>THEME:</a:t>
                      </a:r>
                      <a:r>
                        <a:rPr lang="fr-SN" sz="3200" b="1" baseline="0" dirty="0" smtClean="0"/>
                        <a:t> AFRITALENT</a:t>
                      </a:r>
                    </a:p>
                    <a:p>
                      <a:endParaRPr lang="fr-SN" baseline="0" dirty="0" smtClean="0"/>
                    </a:p>
                    <a:p>
                      <a:r>
                        <a:rPr lang="fr-FR" dirty="0" smtClean="0">
                          <a:solidFill>
                            <a:schemeClr val="bg1">
                              <a:lumMod val="95000"/>
                              <a:lumOff val="5000"/>
                            </a:schemeClr>
                          </a:solidFill>
                        </a:rPr>
                        <a:t>Le marché du freelance Tech en Afrique connaît une croissance explosive. De plus en plus de développeurs, designers et créateurs de contenu cherchent une plateforme fiable pour proposer leurs services et trouver des missions.</a:t>
                      </a:r>
                    </a:p>
                    <a:p>
                      <a:endParaRPr lang="fr-SN" dirty="0" smtClean="0">
                        <a:solidFill>
                          <a:schemeClr val="bg1">
                            <a:lumMod val="95000"/>
                            <a:lumOff val="5000"/>
                          </a:schemeClr>
                        </a:solidFill>
                      </a:endParaRPr>
                    </a:p>
                    <a:p>
                      <a:endParaRPr lang="fr-SN" dirty="0" smtClean="0">
                        <a:solidFill>
                          <a:schemeClr val="bg1">
                            <a:lumMod val="95000"/>
                            <a:lumOff val="5000"/>
                          </a:schemeClr>
                        </a:solidFill>
                      </a:endParaRPr>
                    </a:p>
                    <a:p>
                      <a:r>
                        <a:rPr lang="fr-SN" b="0" dirty="0" smtClean="0">
                          <a:solidFill>
                            <a:schemeClr val="bg1">
                              <a:lumMod val="95000"/>
                              <a:lumOff val="5000"/>
                            </a:schemeClr>
                          </a:solidFill>
                        </a:rPr>
                        <a:t>PROFESSEUR</a:t>
                      </a:r>
                      <a:r>
                        <a:rPr lang="fr-SN" dirty="0" smtClean="0">
                          <a:solidFill>
                            <a:schemeClr val="bg1">
                              <a:lumMod val="95000"/>
                              <a:lumOff val="5000"/>
                            </a:schemeClr>
                          </a:solidFill>
                        </a:rPr>
                        <a:t>:</a:t>
                      </a:r>
                      <a:r>
                        <a:rPr lang="fr-SN" baseline="0" dirty="0" smtClean="0">
                          <a:solidFill>
                            <a:schemeClr val="bg1">
                              <a:lumMod val="95000"/>
                              <a:lumOff val="5000"/>
                            </a:schemeClr>
                          </a:solidFill>
                        </a:rPr>
                        <a:t> </a:t>
                      </a:r>
                      <a:r>
                        <a:rPr lang="fr-SN" baseline="0" dirty="0" smtClean="0">
                          <a:solidFill>
                            <a:schemeClr val="tx1">
                              <a:lumMod val="95000"/>
                            </a:schemeClr>
                          </a:solidFill>
                        </a:rPr>
                        <a:t>Mr ROBERT DIASSE</a:t>
                      </a:r>
                    </a:p>
                    <a:p>
                      <a:endParaRPr lang="fr-SN" baseline="0" dirty="0" smtClean="0">
                        <a:solidFill>
                          <a:schemeClr val="bg1">
                            <a:lumMod val="95000"/>
                            <a:lumOff val="5000"/>
                          </a:schemeClr>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SN" b="0" baseline="0" dirty="0" smtClean="0">
                          <a:solidFill>
                            <a:schemeClr val="bg1">
                              <a:lumMod val="95000"/>
                              <a:lumOff val="5000"/>
                            </a:schemeClr>
                          </a:solidFill>
                        </a:rPr>
                        <a:t>AUTEUR DU PROJET</a:t>
                      </a:r>
                      <a:r>
                        <a:rPr lang="fr-SN" baseline="0" dirty="0" smtClean="0">
                          <a:solidFill>
                            <a:schemeClr val="bg1">
                              <a:lumMod val="95000"/>
                              <a:lumOff val="5000"/>
                            </a:schemeClr>
                          </a:solidFill>
                        </a:rPr>
                        <a:t>: </a:t>
                      </a:r>
                      <a:r>
                        <a:rPr lang="fr-FR" sz="1800" b="1" kern="1200" dirty="0" smtClean="0">
                          <a:solidFill>
                            <a:schemeClr val="tx1">
                              <a:lumMod val="95000"/>
                            </a:schemeClr>
                          </a:solidFill>
                          <a:effectLst/>
                          <a:latin typeface="+mn-lt"/>
                          <a:ea typeface="+mn-ea"/>
                          <a:cs typeface="+mn-cs"/>
                        </a:rPr>
                        <a:t>NDIAYE_YACOUBA SEYDOU </a:t>
                      </a:r>
                    </a:p>
                    <a:p>
                      <a:pPr marL="0" marR="0" lvl="0" indent="0" algn="l" defTabSz="457200" rtl="0" eaLnBrk="1" fontAlgn="auto" latinLnBrk="0" hangingPunct="1">
                        <a:lnSpc>
                          <a:spcPct val="100000"/>
                        </a:lnSpc>
                        <a:spcBef>
                          <a:spcPts val="0"/>
                        </a:spcBef>
                        <a:spcAft>
                          <a:spcPts val="0"/>
                        </a:spcAft>
                        <a:buClrTx/>
                        <a:buSzTx/>
                        <a:buFontTx/>
                        <a:buNone/>
                        <a:tabLst/>
                        <a:defRPr/>
                      </a:pPr>
                      <a:endParaRPr lang="fr-SN" sz="1800" b="0" kern="1200" dirty="0" smtClean="0">
                        <a:solidFill>
                          <a:srgbClr val="00B050"/>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SN" sz="1800" b="0" kern="1200" dirty="0" smtClean="0">
                          <a:solidFill>
                            <a:schemeClr val="tx1">
                              <a:lumMod val="95000"/>
                            </a:schemeClr>
                          </a:solidFill>
                          <a:effectLst/>
                          <a:latin typeface="+mn-lt"/>
                          <a:ea typeface="+mn-ea"/>
                          <a:cs typeface="+mn-cs"/>
                        </a:rPr>
                        <a:t>DATE:</a:t>
                      </a:r>
                      <a:r>
                        <a:rPr lang="fr-SN" sz="1800" b="0" kern="1200" baseline="0" dirty="0" smtClean="0">
                          <a:solidFill>
                            <a:schemeClr val="tx1">
                              <a:lumMod val="95000"/>
                            </a:schemeClr>
                          </a:solidFill>
                          <a:effectLst/>
                          <a:latin typeface="+mn-lt"/>
                          <a:ea typeface="+mn-ea"/>
                          <a:cs typeface="+mn-cs"/>
                        </a:rPr>
                        <a:t> JUIN/2026</a:t>
                      </a:r>
                      <a:endParaRPr lang="fr-FR" sz="1800" b="0" kern="1200" dirty="0" smtClean="0">
                        <a:solidFill>
                          <a:schemeClr val="tx1">
                            <a:lumMod val="95000"/>
                          </a:schemeClr>
                        </a:solidFill>
                        <a:effectLst/>
                        <a:latin typeface="+mn-lt"/>
                        <a:ea typeface="+mn-ea"/>
                        <a:cs typeface="+mn-cs"/>
                      </a:endParaRPr>
                    </a:p>
                    <a:p>
                      <a:endParaRPr lang="fr-FR" dirty="0">
                        <a:solidFill>
                          <a:schemeClr val="bg1">
                            <a:lumMod val="95000"/>
                            <a:lumOff val="5000"/>
                          </a:schemeClr>
                        </a:solidFill>
                      </a:endParaRPr>
                    </a:p>
                  </a:txBody>
                  <a:tcPr>
                    <a:solidFill>
                      <a:schemeClr val="accent2">
                        <a:lumMod val="50000"/>
                      </a:schemeClr>
                    </a:solidFill>
                  </a:tcPr>
                </a:tc>
              </a:tr>
            </a:tbl>
          </a:graphicData>
        </a:graphic>
      </p:graphicFrame>
    </p:spTree>
    <p:extLst>
      <p:ext uri="{BB962C8B-B14F-4D97-AF65-F5344CB8AC3E}">
        <p14:creationId xmlns:p14="http://schemas.microsoft.com/office/powerpoint/2010/main" val="1799524133"/>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extLst>
              <p:ext uri="{D42A27DB-BD31-4B8C-83A1-F6EECF244321}">
                <p14:modId xmlns:p14="http://schemas.microsoft.com/office/powerpoint/2010/main" val="1716155956"/>
              </p:ext>
            </p:extLst>
          </p:nvPr>
        </p:nvGraphicFramePr>
        <p:xfrm>
          <a:off x="646111" y="452718"/>
          <a:ext cx="9404723" cy="14005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2016085672"/>
              </p:ext>
            </p:extLst>
          </p:nvPr>
        </p:nvGraphicFramePr>
        <p:xfrm>
          <a:off x="7323514" y="2926407"/>
          <a:ext cx="4289366" cy="3383280"/>
        </p:xfrm>
        <a:graphic>
          <a:graphicData uri="http://schemas.openxmlformats.org/drawingml/2006/table">
            <a:tbl>
              <a:tblPr firstRow="1" bandRow="1">
                <a:tableStyleId>{5C22544A-7EE6-4342-B048-85BDC9FD1C3A}</a:tableStyleId>
              </a:tblPr>
              <a:tblGrid>
                <a:gridCol w="4289366"/>
              </a:tblGrid>
              <a:tr h="2917767">
                <a:tc>
                  <a:txBody>
                    <a:bodyPr/>
                    <a:lstStyle/>
                    <a:p>
                      <a:pPr marL="285750" indent="-285750" algn="ctr">
                        <a:buFont typeface="Wingdings" panose="05000000000000000000" pitchFamily="2" charset="2"/>
                        <a:buChar char="q"/>
                      </a:pPr>
                      <a:endParaRPr lang="fr-SN" dirty="0" smtClean="0">
                        <a:solidFill>
                          <a:schemeClr val="accent1">
                            <a:lumMod val="50000"/>
                          </a:schemeClr>
                        </a:solidFill>
                      </a:endParaRPr>
                    </a:p>
                    <a:p>
                      <a:pPr marL="285750" indent="-285750" algn="ctr">
                        <a:buFont typeface="Wingdings" panose="05000000000000000000" pitchFamily="2" charset="2"/>
                        <a:buChar char="q"/>
                      </a:pPr>
                      <a:endParaRPr lang="fr-SN" dirty="0" smtClean="0">
                        <a:solidFill>
                          <a:schemeClr val="accent1">
                            <a:lumMod val="50000"/>
                          </a:schemeClr>
                        </a:solidFill>
                      </a:endParaRPr>
                    </a:p>
                    <a:p>
                      <a:pPr marL="285750" indent="-285750">
                        <a:buFont typeface="Wingdings" panose="05000000000000000000" pitchFamily="2" charset="2"/>
                        <a:buChar char="q"/>
                      </a:pPr>
                      <a:endParaRPr lang="fr-SN" baseline="0" dirty="0" smtClean="0"/>
                    </a:p>
                    <a:p>
                      <a:pPr marL="285750" indent="-285750" algn="ctr">
                        <a:buFont typeface="Wingdings" panose="05000000000000000000" pitchFamily="2" charset="2"/>
                        <a:buChar char="v"/>
                      </a:pPr>
                      <a:r>
                        <a:rPr lang="fr-SN" baseline="0" dirty="0" smtClean="0">
                          <a:solidFill>
                            <a:schemeClr val="accent1">
                              <a:lumMod val="50000"/>
                            </a:schemeClr>
                          </a:solidFill>
                        </a:rPr>
                        <a:t>    </a:t>
                      </a:r>
                      <a:r>
                        <a:rPr lang="fr-SN" baseline="0" dirty="0" smtClean="0">
                          <a:solidFill>
                            <a:schemeClr val="tx1"/>
                          </a:solidFill>
                        </a:rPr>
                        <a:t>LES LIENS</a:t>
                      </a:r>
                    </a:p>
                    <a:p>
                      <a:pPr marL="285750" indent="-285750">
                        <a:buFont typeface="Wingdings" panose="05000000000000000000" pitchFamily="2" charset="2"/>
                        <a:buChar char="v"/>
                      </a:pPr>
                      <a:endParaRPr lang="fr-SN" baseline="0" dirty="0" smtClean="0"/>
                    </a:p>
                    <a:p>
                      <a:pPr marL="285750" indent="-285750" algn="ctr">
                        <a:buFont typeface="Arial" panose="020B0604020202020204" pitchFamily="34" charset="0"/>
                        <a:buChar char="•"/>
                      </a:pPr>
                      <a:r>
                        <a:rPr lang="fr-SN" baseline="0" dirty="0" smtClean="0">
                          <a:solidFill>
                            <a:schemeClr val="tx2">
                              <a:lumMod val="10000"/>
                            </a:schemeClr>
                          </a:solidFill>
                        </a:rPr>
                        <a:t>ACCUEIL</a:t>
                      </a:r>
                    </a:p>
                    <a:p>
                      <a:pPr marL="285750" indent="-285750" algn="ctr">
                        <a:buFont typeface="Arial" panose="020B0604020202020204" pitchFamily="34" charset="0"/>
                        <a:buChar char="•"/>
                      </a:pPr>
                      <a:r>
                        <a:rPr lang="fr-SN" baseline="0" dirty="0" smtClean="0">
                          <a:solidFill>
                            <a:schemeClr val="tx2">
                              <a:lumMod val="10000"/>
                            </a:schemeClr>
                          </a:solidFill>
                        </a:rPr>
                        <a:t>FREELANCE</a:t>
                      </a:r>
                    </a:p>
                    <a:p>
                      <a:pPr marL="285750" indent="-285750" algn="ctr">
                        <a:buFont typeface="Arial" panose="020B0604020202020204" pitchFamily="34" charset="0"/>
                        <a:buChar char="•"/>
                      </a:pPr>
                      <a:r>
                        <a:rPr lang="fr-SN" baseline="0" dirty="0" smtClean="0">
                          <a:solidFill>
                            <a:schemeClr val="tx2">
                              <a:lumMod val="10000"/>
                            </a:schemeClr>
                          </a:solidFill>
                        </a:rPr>
                        <a:t>TARIFS</a:t>
                      </a:r>
                    </a:p>
                    <a:p>
                      <a:pPr marL="285750" indent="-285750" algn="ctr">
                        <a:buFont typeface="Arial" panose="020B0604020202020204" pitchFamily="34" charset="0"/>
                        <a:buChar char="•"/>
                      </a:pPr>
                      <a:r>
                        <a:rPr lang="fr-SN" baseline="0" dirty="0" smtClean="0">
                          <a:solidFill>
                            <a:schemeClr val="tx2">
                              <a:lumMod val="10000"/>
                            </a:schemeClr>
                          </a:solidFill>
                        </a:rPr>
                        <a:t>ABOUT</a:t>
                      </a:r>
                    </a:p>
                    <a:p>
                      <a:pPr marL="285750" indent="-285750" algn="ctr">
                        <a:buFont typeface="Arial" panose="020B0604020202020204" pitchFamily="34" charset="0"/>
                        <a:buChar char="•"/>
                      </a:pPr>
                      <a:r>
                        <a:rPr lang="fr-SN" baseline="0" dirty="0" smtClean="0">
                          <a:solidFill>
                            <a:schemeClr val="tx2">
                              <a:lumMod val="10000"/>
                            </a:schemeClr>
                          </a:solidFill>
                        </a:rPr>
                        <a:t>CONTACT</a:t>
                      </a:r>
                    </a:p>
                    <a:p>
                      <a:pPr marL="285750" indent="-285750">
                        <a:buFont typeface="Arial" panose="020B0604020202020204" pitchFamily="34" charset="0"/>
                        <a:buChar char="•"/>
                      </a:pPr>
                      <a:endParaRPr lang="fr-SN" baseline="0" dirty="0" smtClean="0">
                        <a:solidFill>
                          <a:schemeClr val="bg2">
                            <a:lumMod val="50000"/>
                          </a:schemeClr>
                        </a:solidFill>
                      </a:endParaRPr>
                    </a:p>
                    <a:p>
                      <a:pPr marL="285750" indent="-285750">
                        <a:buFont typeface="Courier New" panose="02070309020205020404" pitchFamily="49" charset="0"/>
                        <a:buChar char="o"/>
                      </a:pPr>
                      <a:r>
                        <a:rPr lang="fr-SN" baseline="0" dirty="0" smtClean="0">
                          <a:solidFill>
                            <a:schemeClr val="bg2">
                              <a:lumMod val="50000"/>
                            </a:schemeClr>
                          </a:solidFill>
                        </a:rPr>
                        <a:t>BOUTON</a:t>
                      </a:r>
                      <a:r>
                        <a:rPr lang="fr-SN" baseline="0" dirty="0" smtClean="0"/>
                        <a:t>:    </a:t>
                      </a:r>
                      <a:r>
                        <a:rPr lang="fr-SN" baseline="0" dirty="0" smtClean="0">
                          <a:solidFill>
                            <a:schemeClr val="tx1"/>
                          </a:solidFill>
                        </a:rPr>
                        <a:t>REJOINDRE AFRITALENT</a:t>
                      </a:r>
                    </a:p>
                  </a:txBody>
                  <a:tcPr>
                    <a:solidFill>
                      <a:schemeClr val="accent3">
                        <a:lumMod val="75000"/>
                      </a:schemeClr>
                    </a:solidFill>
                  </a:tcPr>
                </a:tc>
              </a:tr>
            </a:tbl>
          </a:graphicData>
        </a:graphic>
      </p:graphicFrame>
      <p:pic>
        <p:nvPicPr>
          <p:cNvPr id="2" name="Imag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5514" y="3375621"/>
            <a:ext cx="4064922" cy="2759172"/>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1654958794"/>
              </p:ext>
            </p:extLst>
          </p:nvPr>
        </p:nvGraphicFramePr>
        <p:xfrm>
          <a:off x="646111" y="2155684"/>
          <a:ext cx="3396211" cy="731520"/>
        </p:xfrm>
        <a:graphic>
          <a:graphicData uri="http://schemas.openxmlformats.org/drawingml/2006/table">
            <a:tbl>
              <a:tblPr firstRow="1" bandRow="1">
                <a:tableStyleId>{5C22544A-7EE6-4342-B048-85BDC9FD1C3A}</a:tableStyleId>
              </a:tblPr>
              <a:tblGrid>
                <a:gridCol w="3396211"/>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SN" sz="2400" dirty="0" smtClean="0">
                          <a:solidFill>
                            <a:schemeClr val="tx1"/>
                          </a:solidFill>
                          <a:latin typeface="+mj-lt"/>
                        </a:rPr>
                        <a:t>LOGO</a:t>
                      </a:r>
                      <a:r>
                        <a:rPr lang="fr-SN" sz="2400" baseline="0" dirty="0" smtClean="0">
                          <a:solidFill>
                            <a:schemeClr val="tx1"/>
                          </a:solidFill>
                          <a:latin typeface="+mj-lt"/>
                        </a:rPr>
                        <a:t> AFRITALENT</a:t>
                      </a:r>
                    </a:p>
                    <a:p>
                      <a:endParaRPr lang="fr-FR" dirty="0"/>
                    </a:p>
                  </a:txBody>
                  <a:tcPr anchor="ctr">
                    <a:solidFill>
                      <a:schemeClr val="accent3">
                        <a:lumMod val="60000"/>
                        <a:lumOff val="40000"/>
                      </a:schemeClr>
                    </a:solidFill>
                  </a:tcPr>
                </a:tc>
              </a:tr>
            </a:tbl>
          </a:graphicData>
        </a:graphic>
      </p:graphicFrame>
    </p:spTree>
    <p:extLst>
      <p:ext uri="{BB962C8B-B14F-4D97-AF65-F5344CB8AC3E}">
        <p14:creationId xmlns:p14="http://schemas.microsoft.com/office/powerpoint/2010/main" val="34059604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SN" b="1" u="sng" dirty="0">
                <a:effectLst>
                  <a:outerShdw blurRad="38100" dist="38100" dir="2700000" algn="tl">
                    <a:srgbClr val="000000">
                      <a:alpha val="43137"/>
                    </a:srgbClr>
                  </a:outerShdw>
                </a:effectLst>
              </a:rPr>
              <a:t>I: Accueil</a:t>
            </a:r>
            <a:endParaRPr lang="fr-FR" dirty="0"/>
          </a:p>
        </p:txBody>
      </p:sp>
      <p:sp>
        <p:nvSpPr>
          <p:cNvPr id="3" name="Espace réservé du contenu 2"/>
          <p:cNvSpPr>
            <a:spLocks noGrp="1"/>
          </p:cNvSpPr>
          <p:nvPr>
            <p:ph sz="half" idx="1"/>
          </p:nvPr>
        </p:nvSpPr>
        <p:spPr>
          <a:xfrm>
            <a:off x="952133" y="1952510"/>
            <a:ext cx="4396339" cy="4195763"/>
          </a:xfrm>
        </p:spPr>
        <p:txBody>
          <a:bodyPr>
            <a:normAutofit/>
          </a:bodyPr>
          <a:lstStyle/>
          <a:p>
            <a:pPr marL="0" indent="0">
              <a:buNone/>
            </a:pPr>
            <a:r>
              <a:rPr lang="fr-SN" b="1" u="sng" dirty="0">
                <a:effectLst>
                  <a:outerShdw blurRad="38100" dist="38100" dir="2700000" algn="tl">
                    <a:srgbClr val="000000">
                      <a:alpha val="43137"/>
                    </a:srgbClr>
                  </a:outerShdw>
                </a:effectLst>
              </a:rPr>
              <a:t/>
            </a:r>
            <a:br>
              <a:rPr lang="fr-SN" b="1" u="sng" dirty="0">
                <a:effectLst>
                  <a:outerShdw blurRad="38100" dist="38100" dir="2700000" algn="tl">
                    <a:srgbClr val="000000">
                      <a:alpha val="43137"/>
                    </a:srgbClr>
                  </a:outerShdw>
                </a:effectLst>
              </a:rPr>
            </a:br>
            <a:r>
              <a:rPr lang="fr-SN" sz="2000" b="1" u="sng" dirty="0" smtClean="0">
                <a:effectLst>
                  <a:outerShdw blurRad="38100" dist="38100" dir="2700000" algn="tl">
                    <a:srgbClr val="000000">
                      <a:alpha val="43137"/>
                    </a:srgbClr>
                  </a:outerShdw>
                </a:effectLst>
              </a:rPr>
              <a:t>a</a:t>
            </a:r>
            <a:r>
              <a:rPr lang="fr-SN" sz="2000" b="1" u="sng" dirty="0">
                <a:effectLst>
                  <a:outerShdw blurRad="38100" dist="38100" dir="2700000" algn="tl">
                    <a:srgbClr val="000000">
                      <a:alpha val="43137"/>
                    </a:srgbClr>
                  </a:outerShdw>
                </a:effectLst>
              </a:rPr>
              <a:t>: </a:t>
            </a:r>
            <a:r>
              <a:rPr lang="fr-SN" sz="2000" b="1" u="sng" dirty="0" smtClean="0">
                <a:effectLst>
                  <a:outerShdw blurRad="38100" dist="38100" dir="2700000" algn="tl">
                    <a:srgbClr val="000000">
                      <a:alpha val="43137"/>
                    </a:srgbClr>
                  </a:outerShdw>
                </a:effectLst>
              </a:rPr>
              <a:t>en-tête</a:t>
            </a:r>
          </a:p>
          <a:p>
            <a:pPr marL="0" indent="0">
              <a:buNone/>
            </a:pPr>
            <a:r>
              <a:rPr lang="fr-SN" sz="2000" b="1" u="sng" dirty="0">
                <a:effectLst>
                  <a:outerShdw blurRad="38100" dist="38100" dir="2700000" algn="tl">
                    <a:srgbClr val="000000">
                      <a:alpha val="43137"/>
                    </a:srgbClr>
                  </a:outerShdw>
                </a:effectLst>
              </a:rPr>
              <a:t/>
            </a:r>
            <a:br>
              <a:rPr lang="fr-SN" sz="2000" b="1" u="sng" dirty="0">
                <a:effectLst>
                  <a:outerShdw blurRad="38100" dist="38100" dir="2700000" algn="tl">
                    <a:srgbClr val="000000">
                      <a:alpha val="43137"/>
                    </a:srgbClr>
                  </a:outerShdw>
                </a:effectLst>
              </a:rPr>
            </a:br>
            <a:r>
              <a:rPr lang="fr-FR" sz="2000" b="1" dirty="0">
                <a:solidFill>
                  <a:schemeClr val="accent3">
                    <a:lumMod val="60000"/>
                    <a:lumOff val="40000"/>
                  </a:schemeClr>
                </a:solidFill>
              </a:rPr>
              <a:t>Nous vous présentons les meilleurs talents africains</a:t>
            </a:r>
            <a:r>
              <a:rPr lang="fr-FR" sz="2000" b="1" dirty="0"/>
              <a:t/>
            </a:r>
            <a:br>
              <a:rPr lang="fr-FR" sz="2000" b="1" dirty="0"/>
            </a:br>
            <a:r>
              <a:rPr lang="fr-FR" sz="2000" dirty="0"/>
              <a:t>Connectez freelances et entreprises facilement</a:t>
            </a:r>
            <a:br>
              <a:rPr lang="fr-FR" sz="2000" dirty="0"/>
            </a:br>
            <a:r>
              <a:rPr lang="fr-FR" sz="2000" dirty="0"/>
              <a:t>Avec image et bouton </a:t>
            </a:r>
            <a:endParaRPr lang="fr-FR" sz="2000" dirty="0" smtClean="0"/>
          </a:p>
          <a:p>
            <a:r>
              <a:rPr lang="fr-FR" sz="2000" dirty="0" smtClean="0"/>
              <a:t>«</a:t>
            </a:r>
            <a:r>
              <a:rPr lang="fr-FR" sz="2000" dirty="0"/>
              <a:t> </a:t>
            </a:r>
            <a:r>
              <a:rPr lang="fr-FR" sz="2000" dirty="0">
                <a:solidFill>
                  <a:schemeClr val="accent1">
                    <a:lumMod val="40000"/>
                    <a:lumOff val="60000"/>
                  </a:schemeClr>
                </a:solidFill>
                <a:effectLst>
                  <a:outerShdw blurRad="38100" dist="38100" dir="2700000" algn="tl">
                    <a:srgbClr val="000000">
                      <a:alpha val="43137"/>
                    </a:srgbClr>
                  </a:outerShdw>
                </a:effectLst>
              </a:rPr>
              <a:t>je suis freelance</a:t>
            </a:r>
            <a:r>
              <a:rPr lang="fr-FR" sz="2000" dirty="0"/>
              <a:t> </a:t>
            </a:r>
            <a:r>
              <a:rPr lang="fr-FR" sz="2000" dirty="0" smtClean="0"/>
              <a:t>»</a:t>
            </a:r>
          </a:p>
          <a:p>
            <a:r>
              <a:rPr lang="fr-SN" sz="2000" dirty="0"/>
              <a:t>&amp;</a:t>
            </a:r>
            <a:endParaRPr lang="fr-FR" sz="2000" dirty="0" smtClean="0">
              <a:effectLst>
                <a:outerShdw blurRad="38100" dist="38100" dir="2700000" algn="tl">
                  <a:srgbClr val="000000">
                    <a:alpha val="43137"/>
                  </a:srgbClr>
                </a:outerShdw>
              </a:effectLst>
            </a:endParaRPr>
          </a:p>
          <a:p>
            <a:r>
              <a:rPr lang="fr-FR" sz="2000" dirty="0" smtClean="0">
                <a:effectLst>
                  <a:outerShdw blurRad="38100" dist="38100" dir="2700000" algn="tl">
                    <a:srgbClr val="000000">
                      <a:alpha val="43137"/>
                    </a:srgbClr>
                  </a:outerShdw>
                </a:effectLst>
              </a:rPr>
              <a:t>« </a:t>
            </a:r>
            <a:r>
              <a:rPr lang="fr-FR" sz="2000" dirty="0" smtClean="0">
                <a:solidFill>
                  <a:schemeClr val="accent1">
                    <a:lumMod val="40000"/>
                    <a:lumOff val="60000"/>
                  </a:schemeClr>
                </a:solidFill>
                <a:effectLst>
                  <a:outerShdw blurRad="38100" dist="38100" dir="2700000" algn="tl">
                    <a:srgbClr val="000000">
                      <a:alpha val="43137"/>
                    </a:srgbClr>
                  </a:outerShdw>
                </a:effectLst>
              </a:rPr>
              <a:t>je</a:t>
            </a:r>
            <a:r>
              <a:rPr lang="fr-FR" sz="2000" dirty="0" smtClean="0">
                <a:solidFill>
                  <a:schemeClr val="accent1">
                    <a:lumMod val="40000"/>
                    <a:lumOff val="60000"/>
                  </a:schemeClr>
                </a:solidFill>
              </a:rPr>
              <a:t> </a:t>
            </a:r>
            <a:r>
              <a:rPr lang="fr-FR" sz="2000" dirty="0" smtClean="0">
                <a:solidFill>
                  <a:schemeClr val="accent1">
                    <a:lumMod val="40000"/>
                    <a:lumOff val="60000"/>
                  </a:schemeClr>
                </a:solidFill>
                <a:effectLst>
                  <a:outerShdw blurRad="38100" dist="38100" dir="2700000" algn="tl">
                    <a:srgbClr val="000000">
                      <a:alpha val="43137"/>
                    </a:srgbClr>
                  </a:outerShdw>
                </a:effectLst>
              </a:rPr>
              <a:t>cherche un freelance</a:t>
            </a:r>
            <a:r>
              <a:rPr lang="fr-FR" sz="2000" dirty="0" smtClean="0">
                <a:effectLst>
                  <a:outerShdw blurRad="38100" dist="38100" dir="2700000" algn="tl">
                    <a:srgbClr val="000000">
                      <a:alpha val="43137"/>
                    </a:srgbClr>
                  </a:outerShdw>
                </a:effectLst>
              </a:rPr>
              <a:t> »</a:t>
            </a:r>
            <a:endParaRPr lang="fr-FR" sz="2000" dirty="0"/>
          </a:p>
        </p:txBody>
      </p:sp>
      <p:pic>
        <p:nvPicPr>
          <p:cNvPr id="5" name="Espace réservé du contenu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10348" y="2419004"/>
            <a:ext cx="5910349" cy="4070091"/>
          </a:xfrm>
        </p:spPr>
      </p:pic>
    </p:spTree>
    <p:extLst>
      <p:ext uri="{BB962C8B-B14F-4D97-AF65-F5344CB8AC3E}">
        <p14:creationId xmlns:p14="http://schemas.microsoft.com/office/powerpoint/2010/main" val="3102607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Nos statistiques</a:t>
            </a:r>
            <a:br>
              <a:rPr lang="fr-FR" b="1" dirty="0"/>
            </a:br>
            <a:endParaRPr lang="fr-FR" dirty="0"/>
          </a:p>
        </p:txBody>
      </p:sp>
      <p:sp>
        <p:nvSpPr>
          <p:cNvPr id="3" name="Espace réservé du contenu 2"/>
          <p:cNvSpPr>
            <a:spLocks noGrp="1"/>
          </p:cNvSpPr>
          <p:nvPr>
            <p:ph sz="half" idx="1"/>
          </p:nvPr>
        </p:nvSpPr>
        <p:spPr/>
        <p:txBody>
          <a:bodyPr>
            <a:normAutofit fontScale="92500" lnSpcReduction="10000"/>
          </a:bodyPr>
          <a:lstStyle/>
          <a:p>
            <a:r>
              <a:rPr lang="fr-FR" b="1" i="1" dirty="0">
                <a:solidFill>
                  <a:srgbClr val="00B0F0"/>
                </a:solidFill>
              </a:rPr>
              <a:t>+2 500</a:t>
            </a:r>
          </a:p>
          <a:p>
            <a:r>
              <a:rPr lang="fr-FR" b="1" i="1" dirty="0" smtClean="0">
                <a:solidFill>
                  <a:srgbClr val="00B0F0"/>
                </a:solidFill>
              </a:rPr>
              <a:t>Freelances</a:t>
            </a:r>
          </a:p>
          <a:p>
            <a:endParaRPr lang="fr-SN" b="1" i="1" dirty="0" smtClean="0"/>
          </a:p>
          <a:p>
            <a:endParaRPr lang="fr-FR" b="1" i="1" dirty="0"/>
          </a:p>
          <a:p>
            <a:r>
              <a:rPr lang="fr-FR" b="1" i="1" dirty="0" smtClean="0">
                <a:solidFill>
                  <a:schemeClr val="accent3">
                    <a:lumMod val="60000"/>
                    <a:lumOff val="40000"/>
                  </a:schemeClr>
                </a:solidFill>
              </a:rPr>
              <a:t>+</a:t>
            </a:r>
            <a:r>
              <a:rPr lang="fr-FR" b="1" i="1" dirty="0">
                <a:solidFill>
                  <a:schemeClr val="accent3">
                    <a:lumMod val="60000"/>
                    <a:lumOff val="40000"/>
                  </a:schemeClr>
                </a:solidFill>
              </a:rPr>
              <a:t>800</a:t>
            </a:r>
          </a:p>
          <a:p>
            <a:r>
              <a:rPr lang="fr-FR" b="1" i="1" dirty="0" smtClean="0">
                <a:solidFill>
                  <a:schemeClr val="accent3">
                    <a:lumMod val="60000"/>
                    <a:lumOff val="40000"/>
                  </a:schemeClr>
                </a:solidFill>
              </a:rPr>
              <a:t>Entreprises</a:t>
            </a:r>
          </a:p>
          <a:p>
            <a:endParaRPr lang="fr-SN" b="1" i="1" dirty="0"/>
          </a:p>
          <a:p>
            <a:endParaRPr lang="fr-FR" b="1" i="1" dirty="0"/>
          </a:p>
          <a:p>
            <a:r>
              <a:rPr lang="fr-FR" b="1" i="1" dirty="0">
                <a:solidFill>
                  <a:srgbClr val="92D050"/>
                </a:solidFill>
              </a:rPr>
              <a:t>+12 000</a:t>
            </a:r>
          </a:p>
          <a:p>
            <a:r>
              <a:rPr lang="fr-FR" b="1" i="1" dirty="0">
                <a:solidFill>
                  <a:srgbClr val="92D050"/>
                </a:solidFill>
              </a:rPr>
              <a:t>Missions</a:t>
            </a:r>
          </a:p>
        </p:txBody>
      </p:sp>
      <p:pic>
        <p:nvPicPr>
          <p:cNvPr id="5" name="Espace réservé du contenu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21363" y="2939356"/>
            <a:ext cx="4995862" cy="2054026"/>
          </a:xfrm>
        </p:spPr>
      </p:pic>
    </p:spTree>
    <p:extLst>
      <p:ext uri="{BB962C8B-B14F-4D97-AF65-F5344CB8AC3E}">
        <p14:creationId xmlns:p14="http://schemas.microsoft.com/office/powerpoint/2010/main" val="2866866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marL="571500" indent="-571500" algn="ctr">
              <a:buFont typeface="Wingdings" panose="05000000000000000000" pitchFamily="2" charset="2"/>
              <a:buChar char="§"/>
            </a:pPr>
            <a:r>
              <a:rPr lang="fr-FR" b="1" dirty="0"/>
              <a:t>Comment ça marche</a:t>
            </a:r>
          </a:p>
        </p:txBody>
      </p:sp>
      <p:graphicFrame>
        <p:nvGraphicFramePr>
          <p:cNvPr id="6" name="Espace réservé du contenu 5"/>
          <p:cNvGraphicFramePr>
            <a:graphicFrameLocks noGrp="1"/>
          </p:cNvGraphicFramePr>
          <p:nvPr>
            <p:ph sz="half" idx="1"/>
            <p:extLst>
              <p:ext uri="{D42A27DB-BD31-4B8C-83A1-F6EECF244321}">
                <p14:modId xmlns:p14="http://schemas.microsoft.com/office/powerpoint/2010/main" val="2243159883"/>
              </p:ext>
            </p:extLst>
          </p:nvPr>
        </p:nvGraphicFramePr>
        <p:xfrm>
          <a:off x="1103312" y="1970117"/>
          <a:ext cx="4396339" cy="42862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Espace réservé du contenu 6"/>
          <p:cNvGraphicFramePr>
            <a:graphicFrameLocks noGrp="1"/>
          </p:cNvGraphicFramePr>
          <p:nvPr>
            <p:ph sz="half" idx="2"/>
            <p:extLst>
              <p:ext uri="{D42A27DB-BD31-4B8C-83A1-F6EECF244321}">
                <p14:modId xmlns:p14="http://schemas.microsoft.com/office/powerpoint/2010/main" val="2541601215"/>
              </p:ext>
            </p:extLst>
          </p:nvPr>
        </p:nvGraphicFramePr>
        <p:xfrm>
          <a:off x="5499651" y="1970116"/>
          <a:ext cx="4551183" cy="428622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545270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69000"/>
                <a:hueMod val="108000"/>
                <a:satMod val="164000"/>
                <a:lumMod val="74000"/>
              </a:schemeClr>
              <a:schemeClr val="bg2">
                <a:tint val="96000"/>
                <a:hueMod val="88000"/>
                <a:satMod val="140000"/>
                <a:lumMod val="132000"/>
              </a:schemeClr>
            </a:duotone>
            <a:lum/>
          </a:blip>
          <a:srcRect/>
          <a:stretch>
            <a:fillRect/>
          </a:stretch>
        </a:blipFill>
        <a:effectLst/>
      </p:bgPr>
    </p:bg>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2564996634"/>
              </p:ext>
            </p:extLst>
          </p:nvPr>
        </p:nvGraphicFramePr>
        <p:xfrm>
          <a:off x="764770" y="1354974"/>
          <a:ext cx="10382596" cy="5378334"/>
        </p:xfrm>
        <a:graphic>
          <a:graphicData uri="http://schemas.openxmlformats.org/drawingml/2006/table">
            <a:tbl>
              <a:tblPr firstRow="1" bandRow="1">
                <a:tableStyleId>{5940675A-B579-460E-94D1-54222C63F5DA}</a:tableStyleId>
              </a:tblPr>
              <a:tblGrid>
                <a:gridCol w="5191298"/>
                <a:gridCol w="5191298"/>
              </a:tblGrid>
              <a:tr h="1792778">
                <a:tc>
                  <a:txBody>
                    <a:bodyPr/>
                    <a:lstStyle/>
                    <a:p>
                      <a:pPr algn="ctr"/>
                      <a:endParaRPr lang="fr-FR" sz="2800" b="1" i="0" kern="1200" dirty="0" smtClean="0">
                        <a:solidFill>
                          <a:schemeClr val="tx1"/>
                        </a:solidFill>
                        <a:effectLst/>
                        <a:latin typeface="+mn-lt"/>
                        <a:ea typeface="+mn-ea"/>
                        <a:cs typeface="+mn-cs"/>
                      </a:endParaRPr>
                    </a:p>
                    <a:p>
                      <a:pPr algn="ctr"/>
                      <a:r>
                        <a:rPr lang="fr-FR" sz="2800" b="1" i="0" kern="1200" dirty="0" smtClean="0">
                          <a:solidFill>
                            <a:schemeClr val="tx1"/>
                          </a:solidFill>
                          <a:effectLst/>
                          <a:latin typeface="+mn-lt"/>
                          <a:ea typeface="+mn-ea"/>
                          <a:cs typeface="+mn-cs"/>
                        </a:rPr>
                        <a:t>Développement web</a:t>
                      </a:r>
                    </a:p>
                    <a:p>
                      <a:pPr algn="ctr"/>
                      <a:endParaRPr lang="fr-FR" sz="1800" b="1" i="0" kern="1200" dirty="0" smtClean="0">
                        <a:solidFill>
                          <a:schemeClr val="tx1"/>
                        </a:solidFill>
                        <a:effectLst/>
                        <a:latin typeface="+mn-lt"/>
                        <a:ea typeface="+mn-ea"/>
                        <a:cs typeface="+mn-cs"/>
                      </a:endParaRPr>
                    </a:p>
                    <a:p>
                      <a:pPr algn="ctr"/>
                      <a:r>
                        <a:rPr lang="fr-FR" sz="1800" b="1" i="1" kern="1200" dirty="0" smtClean="0">
                          <a:solidFill>
                            <a:schemeClr val="accent3">
                              <a:lumMod val="60000"/>
                              <a:lumOff val="40000"/>
                            </a:schemeClr>
                          </a:solidFill>
                          <a:effectLst>
                            <a:outerShdw blurRad="38100" dist="38100" dir="2700000" algn="tl">
                              <a:srgbClr val="000000">
                                <a:alpha val="43137"/>
                              </a:srgbClr>
                            </a:outerShdw>
                          </a:effectLst>
                          <a:latin typeface="+mn-lt"/>
                          <a:ea typeface="+mn-ea"/>
                          <a:cs typeface="+mn-cs"/>
                        </a:rPr>
                        <a:t>120 Freelances</a:t>
                      </a:r>
                      <a:endParaRPr lang="fr-FR" sz="1800" b="1" i="1" kern="1200" dirty="0">
                        <a:solidFill>
                          <a:schemeClr val="accent3">
                            <a:lumMod val="60000"/>
                            <a:lumOff val="40000"/>
                          </a:schemeClr>
                        </a:solidFill>
                        <a:effectLst>
                          <a:outerShdw blurRad="38100" dist="38100" dir="2700000" algn="tl">
                            <a:srgbClr val="000000">
                              <a:alpha val="43137"/>
                            </a:srgbClr>
                          </a:outerShdw>
                        </a:effectLst>
                        <a:latin typeface="+mn-lt"/>
                        <a:ea typeface="+mn-ea"/>
                        <a:cs typeface="+mn-cs"/>
                      </a:endParaRPr>
                    </a:p>
                  </a:txBody>
                  <a:tcPr anchor="ctr"/>
                </a:tc>
                <a:tc>
                  <a:txBody>
                    <a:bodyPr/>
                    <a:lstStyle/>
                    <a:p>
                      <a:pPr algn="ctr"/>
                      <a:endParaRPr lang="fr-FR" sz="1800" b="1" i="0" kern="1200" dirty="0" smtClean="0">
                        <a:solidFill>
                          <a:schemeClr val="tx1"/>
                        </a:solidFill>
                        <a:effectLst/>
                        <a:latin typeface="+mn-lt"/>
                        <a:ea typeface="+mn-ea"/>
                        <a:cs typeface="+mn-cs"/>
                      </a:endParaRPr>
                    </a:p>
                    <a:p>
                      <a:pPr algn="ctr"/>
                      <a:r>
                        <a:rPr lang="fr-FR" sz="2800" b="1" i="0" kern="1200" dirty="0" smtClean="0">
                          <a:solidFill>
                            <a:schemeClr val="tx1"/>
                          </a:solidFill>
                          <a:effectLst/>
                          <a:latin typeface="+mn-lt"/>
                          <a:ea typeface="+mn-ea"/>
                          <a:cs typeface="+mn-cs"/>
                        </a:rPr>
                        <a:t>UI/UX Design</a:t>
                      </a:r>
                    </a:p>
                    <a:p>
                      <a:pPr algn="ctr"/>
                      <a:endParaRPr lang="fr-FR" sz="1800" b="1" i="0" kern="1200" dirty="0" smtClean="0">
                        <a:solidFill>
                          <a:schemeClr val="tx1"/>
                        </a:solidFill>
                        <a:effectLst/>
                        <a:latin typeface="+mn-lt"/>
                        <a:ea typeface="+mn-ea"/>
                        <a:cs typeface="+mn-cs"/>
                      </a:endParaRPr>
                    </a:p>
                    <a:p>
                      <a:pPr algn="ctr"/>
                      <a:r>
                        <a:rPr lang="fr-FR" sz="1800" b="1" i="1" kern="1200" dirty="0" smtClean="0">
                          <a:solidFill>
                            <a:schemeClr val="accent3">
                              <a:lumMod val="60000"/>
                              <a:lumOff val="40000"/>
                            </a:schemeClr>
                          </a:solidFill>
                          <a:effectLst/>
                          <a:latin typeface="+mn-lt"/>
                          <a:ea typeface="+mn-ea"/>
                          <a:cs typeface="+mn-cs"/>
                        </a:rPr>
                        <a:t>80 freelances</a:t>
                      </a:r>
                      <a:endParaRPr lang="fr-FR" sz="1800" b="1" i="1" kern="1200" dirty="0">
                        <a:solidFill>
                          <a:schemeClr val="accent3">
                            <a:lumMod val="60000"/>
                            <a:lumOff val="40000"/>
                          </a:schemeClr>
                        </a:solidFill>
                        <a:effectLst/>
                        <a:latin typeface="+mn-lt"/>
                        <a:ea typeface="+mn-ea"/>
                        <a:cs typeface="+mn-cs"/>
                      </a:endParaRPr>
                    </a:p>
                  </a:txBody>
                  <a:tcPr anchor="ctr"/>
                </a:tc>
              </a:tr>
              <a:tr h="1792778">
                <a:tc>
                  <a:txBody>
                    <a:bodyPr/>
                    <a:lstStyle/>
                    <a:p>
                      <a:pPr algn="ctr"/>
                      <a:r>
                        <a:rPr lang="fr-FR" sz="2800" b="1" i="0" kern="1200" dirty="0" smtClean="0">
                          <a:solidFill>
                            <a:schemeClr val="tx1"/>
                          </a:solidFill>
                          <a:effectLst/>
                          <a:latin typeface="+mn-lt"/>
                          <a:ea typeface="+mn-ea"/>
                          <a:cs typeface="+mn-cs"/>
                        </a:rPr>
                        <a:t>Marketing digital</a:t>
                      </a:r>
                    </a:p>
                    <a:p>
                      <a:pPr algn="ctr"/>
                      <a:endParaRPr lang="fr-FR" sz="2800" b="1" i="0" kern="1200" dirty="0" smtClean="0">
                        <a:solidFill>
                          <a:schemeClr val="tx1"/>
                        </a:solidFill>
                        <a:effectLst/>
                        <a:latin typeface="+mn-lt"/>
                        <a:ea typeface="+mn-ea"/>
                        <a:cs typeface="+mn-cs"/>
                      </a:endParaRPr>
                    </a:p>
                    <a:p>
                      <a:pPr algn="ctr"/>
                      <a:r>
                        <a:rPr lang="fr-FR" sz="2000" b="1" i="1" kern="1200" dirty="0" smtClean="0">
                          <a:solidFill>
                            <a:schemeClr val="accent3">
                              <a:lumMod val="60000"/>
                              <a:lumOff val="40000"/>
                            </a:schemeClr>
                          </a:solidFill>
                          <a:effectLst/>
                          <a:latin typeface="+mn-lt"/>
                          <a:ea typeface="+mn-ea"/>
                          <a:cs typeface="+mn-cs"/>
                        </a:rPr>
                        <a:t>95 freelances</a:t>
                      </a:r>
                      <a:endParaRPr lang="fr-FR" sz="2000" b="1" i="1" kern="1200" dirty="0">
                        <a:solidFill>
                          <a:schemeClr val="accent3">
                            <a:lumMod val="60000"/>
                            <a:lumOff val="40000"/>
                          </a:schemeClr>
                        </a:solidFill>
                        <a:effectLst/>
                        <a:latin typeface="+mn-lt"/>
                        <a:ea typeface="+mn-ea"/>
                        <a:cs typeface="+mn-cs"/>
                      </a:endParaRPr>
                    </a:p>
                  </a:txBody>
                  <a:tcPr anchor="ctr"/>
                </a:tc>
                <a:tc>
                  <a:txBody>
                    <a:bodyPr/>
                    <a:lstStyle/>
                    <a:p>
                      <a:pPr algn="ctr"/>
                      <a:r>
                        <a:rPr lang="fr-FR" sz="2800" b="1" i="0" kern="1200" dirty="0" smtClean="0">
                          <a:solidFill>
                            <a:schemeClr val="tx1"/>
                          </a:solidFill>
                          <a:effectLst/>
                          <a:latin typeface="+mn-lt"/>
                          <a:ea typeface="+mn-ea"/>
                          <a:cs typeface="+mn-cs"/>
                        </a:rPr>
                        <a:t>Data &amp; IA</a:t>
                      </a:r>
                    </a:p>
                    <a:p>
                      <a:pPr algn="ctr"/>
                      <a:endParaRPr lang="fr-FR" sz="2800" b="1" i="0" kern="1200" dirty="0" smtClean="0">
                        <a:solidFill>
                          <a:schemeClr val="tx1"/>
                        </a:solidFill>
                        <a:effectLst/>
                        <a:latin typeface="+mn-lt"/>
                        <a:ea typeface="+mn-ea"/>
                        <a:cs typeface="+mn-cs"/>
                      </a:endParaRPr>
                    </a:p>
                    <a:p>
                      <a:pPr algn="ctr"/>
                      <a:r>
                        <a:rPr lang="fr-FR" sz="2000" b="1" i="1" kern="1200" dirty="0" smtClean="0">
                          <a:solidFill>
                            <a:schemeClr val="accent3">
                              <a:lumMod val="60000"/>
                              <a:lumOff val="40000"/>
                            </a:schemeClr>
                          </a:solidFill>
                          <a:effectLst/>
                          <a:latin typeface="+mn-lt"/>
                          <a:ea typeface="+mn-ea"/>
                          <a:cs typeface="+mn-cs"/>
                        </a:rPr>
                        <a:t>60 freelances</a:t>
                      </a:r>
                      <a:endParaRPr lang="fr-FR" sz="2000" b="1" i="1" kern="1200" dirty="0">
                        <a:solidFill>
                          <a:schemeClr val="accent3">
                            <a:lumMod val="60000"/>
                            <a:lumOff val="40000"/>
                          </a:schemeClr>
                        </a:solidFill>
                        <a:effectLst/>
                        <a:latin typeface="+mn-lt"/>
                        <a:ea typeface="+mn-ea"/>
                        <a:cs typeface="+mn-cs"/>
                      </a:endParaRPr>
                    </a:p>
                  </a:txBody>
                  <a:tcPr anchor="ctr"/>
                </a:tc>
              </a:tr>
              <a:tr h="1792778">
                <a:tc>
                  <a:txBody>
                    <a:bodyPr/>
                    <a:lstStyle/>
                    <a:p>
                      <a:pPr algn="ctr"/>
                      <a:r>
                        <a:rPr lang="fr-FR" sz="2800" b="1" i="0" kern="1200" dirty="0" smtClean="0">
                          <a:solidFill>
                            <a:schemeClr val="tx1"/>
                          </a:solidFill>
                          <a:effectLst/>
                          <a:latin typeface="+mn-lt"/>
                          <a:ea typeface="+mn-ea"/>
                          <a:cs typeface="+mn-cs"/>
                        </a:rPr>
                        <a:t>Rédaction Tech</a:t>
                      </a:r>
                    </a:p>
                    <a:p>
                      <a:pPr algn="ctr"/>
                      <a:endParaRPr lang="fr-FR" sz="2800" b="1" i="0" kern="1200" dirty="0" smtClean="0">
                        <a:solidFill>
                          <a:schemeClr val="tx1"/>
                        </a:solidFill>
                        <a:effectLst/>
                        <a:latin typeface="+mn-lt"/>
                        <a:ea typeface="+mn-ea"/>
                        <a:cs typeface="+mn-cs"/>
                      </a:endParaRPr>
                    </a:p>
                    <a:p>
                      <a:pPr algn="ctr"/>
                      <a:r>
                        <a:rPr lang="fr-FR" sz="2000" b="1" i="1" kern="1200" dirty="0" smtClean="0">
                          <a:solidFill>
                            <a:schemeClr val="accent3">
                              <a:lumMod val="60000"/>
                              <a:lumOff val="40000"/>
                            </a:schemeClr>
                          </a:solidFill>
                          <a:effectLst/>
                          <a:latin typeface="+mn-lt"/>
                          <a:ea typeface="+mn-ea"/>
                          <a:cs typeface="+mn-cs"/>
                        </a:rPr>
                        <a:t>70 freelances</a:t>
                      </a:r>
                    </a:p>
                    <a:p>
                      <a:pPr algn="ctr"/>
                      <a:endParaRPr lang="fr-FR" sz="2800" b="1" dirty="0">
                        <a:effectLst/>
                      </a:endParaRPr>
                    </a:p>
                  </a:txBody>
                  <a:tcPr anchor="ctr"/>
                </a:tc>
                <a:tc>
                  <a:txBody>
                    <a:bodyPr/>
                    <a:lstStyle/>
                    <a:p>
                      <a:pPr algn="ctr"/>
                      <a:r>
                        <a:rPr lang="fr-FR" sz="2800" b="1" i="0" kern="1200" dirty="0" smtClean="0">
                          <a:solidFill>
                            <a:schemeClr val="tx1"/>
                          </a:solidFill>
                          <a:effectLst/>
                          <a:latin typeface="+mn-lt"/>
                          <a:ea typeface="+mn-ea"/>
                          <a:cs typeface="+mn-cs"/>
                        </a:rPr>
                        <a:t>Dev OPS &amp; Cloud</a:t>
                      </a:r>
                    </a:p>
                    <a:p>
                      <a:pPr algn="ctr"/>
                      <a:endParaRPr lang="fr-FR" sz="2800" b="1" i="0" kern="1200" dirty="0" smtClean="0">
                        <a:solidFill>
                          <a:schemeClr val="tx1"/>
                        </a:solidFill>
                        <a:effectLst/>
                        <a:latin typeface="+mn-lt"/>
                        <a:ea typeface="+mn-ea"/>
                        <a:cs typeface="+mn-cs"/>
                      </a:endParaRPr>
                    </a:p>
                    <a:p>
                      <a:pPr algn="ctr"/>
                      <a:r>
                        <a:rPr lang="fr-FR" sz="2000" b="1" i="1" kern="1200" dirty="0" smtClean="0">
                          <a:solidFill>
                            <a:schemeClr val="accent3">
                              <a:lumMod val="60000"/>
                              <a:lumOff val="40000"/>
                            </a:schemeClr>
                          </a:solidFill>
                          <a:effectLst/>
                          <a:latin typeface="+mn-lt"/>
                          <a:ea typeface="+mn-ea"/>
                          <a:cs typeface="+mn-cs"/>
                        </a:rPr>
                        <a:t>50 freelances</a:t>
                      </a:r>
                      <a:endParaRPr lang="fr-FR" sz="2000" b="1" i="1" kern="1200" dirty="0">
                        <a:solidFill>
                          <a:schemeClr val="accent3">
                            <a:lumMod val="60000"/>
                            <a:lumOff val="40000"/>
                          </a:schemeClr>
                        </a:solidFill>
                        <a:effectLst/>
                        <a:latin typeface="+mn-lt"/>
                        <a:ea typeface="+mn-ea"/>
                        <a:cs typeface="+mn-cs"/>
                      </a:endParaRPr>
                    </a:p>
                  </a:txBody>
                  <a:tcPr anchor="ctr"/>
                </a:tc>
              </a:tr>
            </a:tbl>
          </a:graphicData>
        </a:graphic>
      </p:graphicFrame>
      <p:graphicFrame>
        <p:nvGraphicFramePr>
          <p:cNvPr id="3" name="Tableau 2"/>
          <p:cNvGraphicFramePr>
            <a:graphicFrameLocks noGrp="1"/>
          </p:cNvGraphicFramePr>
          <p:nvPr>
            <p:extLst>
              <p:ext uri="{D42A27DB-BD31-4B8C-83A1-F6EECF244321}">
                <p14:modId xmlns:p14="http://schemas.microsoft.com/office/powerpoint/2010/main" val="1244042661"/>
              </p:ext>
            </p:extLst>
          </p:nvPr>
        </p:nvGraphicFramePr>
        <p:xfrm>
          <a:off x="2335875" y="249382"/>
          <a:ext cx="7240386" cy="914400"/>
        </p:xfrm>
        <a:graphic>
          <a:graphicData uri="http://schemas.openxmlformats.org/drawingml/2006/table">
            <a:tbl>
              <a:tblPr firstRow="1" bandRow="1">
                <a:tableStyleId>{5C22544A-7EE6-4342-B048-85BDC9FD1C3A}</a:tableStyleId>
              </a:tblPr>
              <a:tblGrid>
                <a:gridCol w="7240386"/>
              </a:tblGrid>
              <a:tr h="914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FR" sz="3600" b="1" i="0" kern="1200" dirty="0" smtClean="0">
                          <a:solidFill>
                            <a:schemeClr val="lt1"/>
                          </a:solidFill>
                          <a:effectLst/>
                          <a:latin typeface="+mn-lt"/>
                          <a:ea typeface="+mn-ea"/>
                          <a:cs typeface="+mn-cs"/>
                        </a:rPr>
                        <a:t>Catégories de services</a:t>
                      </a:r>
                    </a:p>
                    <a:p>
                      <a:endParaRPr lang="fr-FR" dirty="0"/>
                    </a:p>
                  </a:txBody>
                  <a:tcPr anchor="b">
                    <a:solidFill>
                      <a:schemeClr val="accent3">
                        <a:lumMod val="75000"/>
                      </a:schemeClr>
                    </a:solidFill>
                  </a:tcPr>
                </a:tc>
              </a:tr>
            </a:tbl>
          </a:graphicData>
        </a:graphic>
      </p:graphicFrame>
    </p:spTree>
    <p:extLst>
      <p:ext uri="{BB962C8B-B14F-4D97-AF65-F5344CB8AC3E}">
        <p14:creationId xmlns:p14="http://schemas.microsoft.com/office/powerpoint/2010/main" val="12423164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2864148907"/>
              </p:ext>
            </p:extLst>
          </p:nvPr>
        </p:nvGraphicFramePr>
        <p:xfrm>
          <a:off x="1932247" y="2227812"/>
          <a:ext cx="8127999" cy="3108960"/>
        </p:xfrm>
        <a:graphic>
          <a:graphicData uri="http://schemas.openxmlformats.org/drawingml/2006/table">
            <a:tbl>
              <a:tblPr firstRow="1" bandRow="1">
                <a:tableStyleId>{5C22544A-7EE6-4342-B048-85BDC9FD1C3A}</a:tableStyleId>
              </a:tblPr>
              <a:tblGrid>
                <a:gridCol w="2709333"/>
                <a:gridCol w="2709333"/>
                <a:gridCol w="2709333"/>
              </a:tblGrid>
              <a:tr h="3108960">
                <a:tc>
                  <a:txBody>
                    <a:bodyPr/>
                    <a:lstStyle/>
                    <a:p>
                      <a:pPr algn="ctr"/>
                      <a:r>
                        <a:rPr lang="fr-FR" sz="1800" b="1" i="0" kern="1200" dirty="0" smtClean="0">
                          <a:solidFill>
                            <a:schemeClr val="tx1"/>
                          </a:solidFill>
                          <a:effectLst/>
                          <a:latin typeface="+mn-lt"/>
                          <a:ea typeface="+mn-ea"/>
                          <a:cs typeface="+mn-cs"/>
                        </a:rPr>
                        <a:t>Fatoumata Sakho</a:t>
                      </a:r>
                    </a:p>
                    <a:p>
                      <a:pPr algn="ctr"/>
                      <a:r>
                        <a:rPr lang="fr-FR" sz="1800" b="1" i="0" kern="1200" dirty="0" smtClean="0">
                          <a:solidFill>
                            <a:schemeClr val="tx2">
                              <a:lumMod val="50000"/>
                            </a:schemeClr>
                          </a:solidFill>
                          <a:effectLst/>
                          <a:latin typeface="+mn-lt"/>
                          <a:ea typeface="+mn-ea"/>
                          <a:cs typeface="+mn-cs"/>
                        </a:rPr>
                        <a:t>Freelance</a:t>
                      </a:r>
                    </a:p>
                    <a:p>
                      <a:pPr algn="ctr"/>
                      <a:endParaRPr lang="fr-SN" sz="1800" b="1" i="0" kern="1200" dirty="0" smtClean="0">
                        <a:solidFill>
                          <a:schemeClr val="tx1"/>
                        </a:solidFill>
                        <a:effectLst/>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FR" sz="1800" b="0" i="0" kern="1200" dirty="0" smtClean="0">
                          <a:solidFill>
                            <a:schemeClr val="bg1">
                              <a:lumMod val="95000"/>
                              <a:lumOff val="5000"/>
                            </a:schemeClr>
                          </a:solidFill>
                          <a:effectLst/>
                          <a:latin typeface="+mn-lt"/>
                          <a:ea typeface="+mn-ea"/>
                          <a:cs typeface="+mn-cs"/>
                        </a:rPr>
                        <a:t>« Grâce aux freelances, nous avons pu accélérer nos projets et gagner en flexibilité. »</a:t>
                      </a:r>
                      <a:endParaRPr lang="fr-SN" sz="1800" b="1" i="0" kern="1200" dirty="0" smtClean="0">
                        <a:solidFill>
                          <a:schemeClr val="bg1">
                            <a:lumMod val="95000"/>
                            <a:lumOff val="5000"/>
                          </a:schemeClr>
                        </a:solidFill>
                        <a:effectLst/>
                        <a:latin typeface="+mn-lt"/>
                        <a:ea typeface="+mn-ea"/>
                        <a:cs typeface="+mn-cs"/>
                      </a:endParaRPr>
                    </a:p>
                    <a:p>
                      <a:pPr algn="ctr"/>
                      <a:endParaRPr lang="fr-SN" sz="1800" b="1" i="0" kern="1200" dirty="0" smtClean="0">
                        <a:solidFill>
                          <a:schemeClr val="tx1"/>
                        </a:solidFill>
                        <a:effectLst/>
                        <a:latin typeface="+mn-lt"/>
                        <a:ea typeface="+mn-ea"/>
                        <a:cs typeface="+mn-cs"/>
                      </a:endParaRPr>
                    </a:p>
                  </a:txBody>
                  <a:tcPr>
                    <a:solidFill>
                      <a:schemeClr val="accent3">
                        <a:lumMod val="60000"/>
                        <a:lumOff val="40000"/>
                      </a:schemeClr>
                    </a:solidFill>
                  </a:tcPr>
                </a:tc>
                <a:tc>
                  <a:txBody>
                    <a:bodyPr/>
                    <a:lstStyle/>
                    <a:p>
                      <a:pPr algn="ctr"/>
                      <a:r>
                        <a:rPr lang="fr-FR" sz="2000" b="1" i="0" kern="1200" dirty="0" smtClean="0">
                          <a:solidFill>
                            <a:schemeClr val="lt1"/>
                          </a:solidFill>
                          <a:effectLst/>
                          <a:latin typeface="+mn-lt"/>
                          <a:ea typeface="+mn-ea"/>
                          <a:cs typeface="+mn-cs"/>
                        </a:rPr>
                        <a:t>Yaya Ndiaye</a:t>
                      </a:r>
                    </a:p>
                    <a:p>
                      <a:pPr algn="ctr"/>
                      <a:r>
                        <a:rPr lang="fr-FR" sz="1800" b="1" i="0" kern="1200" dirty="0" smtClean="0">
                          <a:solidFill>
                            <a:schemeClr val="tx2">
                              <a:lumMod val="50000"/>
                            </a:schemeClr>
                          </a:solidFill>
                          <a:effectLst/>
                          <a:latin typeface="+mn-lt"/>
                          <a:ea typeface="+mn-ea"/>
                          <a:cs typeface="+mn-cs"/>
                        </a:rPr>
                        <a:t>Start UP</a:t>
                      </a:r>
                    </a:p>
                    <a:p>
                      <a:pPr algn="ctr"/>
                      <a:endParaRPr lang="fr-SN" sz="2000" b="1" i="0" kern="1200" dirty="0" smtClean="0">
                        <a:solidFill>
                          <a:schemeClr val="lt1"/>
                        </a:solidFill>
                        <a:effectLst/>
                        <a:latin typeface="+mn-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FR" sz="2000" b="0" i="0" kern="1200" dirty="0" smtClean="0">
                          <a:solidFill>
                            <a:schemeClr val="bg1">
                              <a:lumMod val="95000"/>
                              <a:lumOff val="5000"/>
                            </a:schemeClr>
                          </a:solidFill>
                          <a:effectLst/>
                          <a:latin typeface="+mn-lt"/>
                          <a:ea typeface="+mn-ea"/>
                          <a:cs typeface="+mn-cs"/>
                        </a:rPr>
                        <a:t>« Une communauté dynamique et des opportunités variées, je recommande vivement. »</a:t>
                      </a:r>
                      <a:endParaRPr lang="fr-FR" sz="2000" b="1" i="0" kern="1200" dirty="0" smtClean="0">
                        <a:solidFill>
                          <a:schemeClr val="bg1">
                            <a:lumMod val="95000"/>
                            <a:lumOff val="5000"/>
                          </a:schemeClr>
                        </a:solidFill>
                        <a:effectLst/>
                        <a:latin typeface="+mn-lt"/>
                        <a:ea typeface="+mn-ea"/>
                        <a:cs typeface="+mn-cs"/>
                      </a:endParaRPr>
                    </a:p>
                    <a:p>
                      <a:pPr algn="ctr"/>
                      <a:endParaRPr lang="fr-FR" sz="2000" b="1" i="0" kern="1200" dirty="0">
                        <a:solidFill>
                          <a:schemeClr val="lt1"/>
                        </a:solidFill>
                        <a:effectLst/>
                        <a:latin typeface="+mn-lt"/>
                        <a:ea typeface="+mn-ea"/>
                        <a:cs typeface="+mn-cs"/>
                      </a:endParaRPr>
                    </a:p>
                  </a:txBody>
                  <a:tcPr>
                    <a:solidFill>
                      <a:schemeClr val="accent3">
                        <a:lumMod val="60000"/>
                        <a:lumOff val="40000"/>
                      </a:schemeClr>
                    </a:solidFill>
                  </a:tcPr>
                </a:tc>
                <a:tc>
                  <a:txBody>
                    <a:bodyPr/>
                    <a:lstStyle/>
                    <a:p>
                      <a:pPr algn="ctr"/>
                      <a:r>
                        <a:rPr lang="fr-FR" sz="1800" b="1" i="0" kern="1200" dirty="0" smtClean="0">
                          <a:solidFill>
                            <a:schemeClr val="lt1"/>
                          </a:solidFill>
                          <a:effectLst/>
                          <a:latin typeface="+mn-lt"/>
                          <a:ea typeface="+mn-ea"/>
                          <a:cs typeface="+mn-cs"/>
                        </a:rPr>
                        <a:t>Seydou Ndiaye</a:t>
                      </a:r>
                    </a:p>
                    <a:p>
                      <a:pPr algn="ctr"/>
                      <a:r>
                        <a:rPr lang="fr-FR" sz="1800" b="1" i="0" kern="1200" dirty="0" smtClean="0">
                          <a:solidFill>
                            <a:schemeClr val="tx2">
                              <a:lumMod val="50000"/>
                            </a:schemeClr>
                          </a:solidFill>
                          <a:effectLst/>
                          <a:latin typeface="+mn-lt"/>
                          <a:ea typeface="+mn-ea"/>
                          <a:cs typeface="+mn-cs"/>
                        </a:rPr>
                        <a:t>Entreprises</a:t>
                      </a:r>
                    </a:p>
                    <a:p>
                      <a:pPr algn="ctr"/>
                      <a:endParaRPr lang="fr-SN" sz="1800" b="1" i="0" kern="1200" dirty="0" smtClean="0">
                        <a:solidFill>
                          <a:schemeClr val="lt1"/>
                        </a:solidFill>
                        <a:effectLst/>
                        <a:latin typeface="+mn-lt"/>
                        <a:ea typeface="+mn-ea"/>
                        <a:cs typeface="+mn-cs"/>
                      </a:endParaRPr>
                    </a:p>
                    <a:p>
                      <a:r>
                        <a:rPr lang="fr-FR" sz="1800" b="0" kern="1200" dirty="0" smtClean="0">
                          <a:solidFill>
                            <a:schemeClr val="bg1">
                              <a:lumMod val="95000"/>
                              <a:lumOff val="5000"/>
                            </a:schemeClr>
                          </a:solidFill>
                          <a:effectLst/>
                          <a:latin typeface="+mn-lt"/>
                          <a:ea typeface="+mn-ea"/>
                          <a:cs typeface="+mn-cs"/>
                        </a:rPr>
                        <a:t>« Cette plateforme m'as permis de trouver des missions rapidement et de développer mon</a:t>
                      </a:r>
                      <a:r>
                        <a:rPr lang="fr-FR" sz="1800" b="0" kern="1200" baseline="0" dirty="0" smtClean="0">
                          <a:solidFill>
                            <a:schemeClr val="bg1">
                              <a:lumMod val="95000"/>
                              <a:lumOff val="5000"/>
                            </a:schemeClr>
                          </a:solidFill>
                          <a:effectLst/>
                          <a:latin typeface="+mn-lt"/>
                          <a:ea typeface="+mn-ea"/>
                          <a:cs typeface="+mn-cs"/>
                        </a:rPr>
                        <a:t> </a:t>
                      </a:r>
                      <a:r>
                        <a:rPr lang="fr-FR" sz="1800" b="0" kern="1200" dirty="0" smtClean="0">
                          <a:solidFill>
                            <a:schemeClr val="bg1">
                              <a:lumMod val="95000"/>
                              <a:lumOff val="5000"/>
                            </a:schemeClr>
                          </a:solidFill>
                          <a:effectLst/>
                          <a:latin typeface="+mn-lt"/>
                          <a:ea typeface="+mn-ea"/>
                          <a:cs typeface="+mn-cs"/>
                        </a:rPr>
                        <a:t>réseau. »</a:t>
                      </a:r>
                    </a:p>
                    <a:p>
                      <a:pPr algn="ctr"/>
                      <a:endParaRPr lang="fr-SN" sz="1800" b="1" i="0" kern="1200" dirty="0" smtClean="0">
                        <a:solidFill>
                          <a:schemeClr val="lt1"/>
                        </a:solidFill>
                        <a:effectLst/>
                        <a:latin typeface="+mn-lt"/>
                        <a:ea typeface="+mn-ea"/>
                        <a:cs typeface="+mn-cs"/>
                      </a:endParaRPr>
                    </a:p>
                  </a:txBody>
                  <a:tcPr>
                    <a:solidFill>
                      <a:schemeClr val="accent3">
                        <a:lumMod val="60000"/>
                        <a:lumOff val="40000"/>
                      </a:schemeClr>
                    </a:solidFill>
                  </a:tcPr>
                </a:tc>
              </a:tr>
            </a:tbl>
          </a:graphicData>
        </a:graphic>
      </p:graphicFrame>
      <p:graphicFrame>
        <p:nvGraphicFramePr>
          <p:cNvPr id="3" name="Tableau 2"/>
          <p:cNvGraphicFramePr>
            <a:graphicFrameLocks noGrp="1"/>
          </p:cNvGraphicFramePr>
          <p:nvPr>
            <p:extLst>
              <p:ext uri="{D42A27DB-BD31-4B8C-83A1-F6EECF244321}">
                <p14:modId xmlns:p14="http://schemas.microsoft.com/office/powerpoint/2010/main" val="2219040941"/>
              </p:ext>
            </p:extLst>
          </p:nvPr>
        </p:nvGraphicFramePr>
        <p:xfrm>
          <a:off x="2638829" y="969048"/>
          <a:ext cx="6397105" cy="917942"/>
        </p:xfrm>
        <a:graphic>
          <a:graphicData uri="http://schemas.openxmlformats.org/drawingml/2006/table">
            <a:tbl>
              <a:tblPr firstRow="1" bandRow="1">
                <a:tableStyleId>{5C22544A-7EE6-4342-B048-85BDC9FD1C3A}</a:tableStyleId>
              </a:tblPr>
              <a:tblGrid>
                <a:gridCol w="6397105"/>
              </a:tblGrid>
              <a:tr h="917942">
                <a:tc>
                  <a:txBody>
                    <a:bodyPr/>
                    <a:lstStyle/>
                    <a:p>
                      <a:pPr algn="ctr"/>
                      <a:r>
                        <a:rPr lang="fr-FR" sz="3600" b="1" i="0" kern="1200" dirty="0" smtClean="0">
                          <a:solidFill>
                            <a:schemeClr val="lt1"/>
                          </a:solidFill>
                          <a:effectLst/>
                          <a:latin typeface="+mn-lt"/>
                          <a:ea typeface="+mn-ea"/>
                          <a:cs typeface="+mn-cs"/>
                        </a:rPr>
                        <a:t>Témoignages</a:t>
                      </a:r>
                      <a:endParaRPr lang="fr-FR" sz="3600" b="1" i="0" kern="1200" dirty="0">
                        <a:solidFill>
                          <a:schemeClr val="lt1"/>
                        </a:solidFill>
                        <a:effectLst/>
                        <a:latin typeface="+mn-lt"/>
                        <a:ea typeface="+mn-ea"/>
                        <a:cs typeface="+mn-cs"/>
                      </a:endParaRPr>
                    </a:p>
                  </a:txBody>
                  <a:tcPr anchor="ctr">
                    <a:solidFill>
                      <a:schemeClr val="accent3">
                        <a:lumMod val="50000"/>
                      </a:schemeClr>
                    </a:solidFill>
                  </a:tcPr>
                </a:tc>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3372880611"/>
              </p:ext>
            </p:extLst>
          </p:nvPr>
        </p:nvGraphicFramePr>
        <p:xfrm>
          <a:off x="1932247" y="5677594"/>
          <a:ext cx="8128000" cy="640080"/>
        </p:xfrm>
        <a:graphic>
          <a:graphicData uri="http://schemas.openxmlformats.org/drawingml/2006/table">
            <a:tbl>
              <a:tblPr firstRow="1" bandRow="1">
                <a:tableStyleId>{5C22544A-7EE6-4342-B048-85BDC9FD1C3A}</a:tableStyleId>
              </a:tblPr>
              <a:tblGrid>
                <a:gridCol w="8128000"/>
              </a:tblGrid>
              <a:tr h="370840">
                <a:tc>
                  <a:txBody>
                    <a:bodyPr/>
                    <a:lstStyle/>
                    <a:p>
                      <a:pPr algn="ctr"/>
                      <a:r>
                        <a:rPr lang="fr-FR" sz="1800" b="0" i="0" kern="1200" dirty="0" smtClean="0">
                          <a:solidFill>
                            <a:schemeClr val="bg1">
                              <a:lumMod val="95000"/>
                              <a:lumOff val="5000"/>
                            </a:schemeClr>
                          </a:solidFill>
                          <a:effectLst/>
                          <a:latin typeface="+mn-lt"/>
                          <a:ea typeface="+mn-ea"/>
                          <a:cs typeface="+mn-cs"/>
                        </a:rPr>
                        <a:t>Rejoignez Afritalent dés Aujourd'hui</a:t>
                      </a:r>
                    </a:p>
                    <a:p>
                      <a:pPr algn="ctr"/>
                      <a:r>
                        <a:rPr lang="fr-FR" sz="1800" b="0" i="0" u="none" strike="noStrike" kern="1200" dirty="0" smtClean="0">
                          <a:solidFill>
                            <a:schemeClr val="lt1"/>
                          </a:solidFill>
                          <a:effectLst/>
                          <a:latin typeface="+mn-lt"/>
                          <a:ea typeface="+mn-ea"/>
                          <a:cs typeface="+mn-cs"/>
                          <a:hlinkClick r:id="rId2"/>
                        </a:rPr>
                        <a:t>s'inscrire</a:t>
                      </a:r>
                      <a:endParaRPr lang="fr-FR" sz="1800" b="0" i="0" kern="1200" dirty="0">
                        <a:solidFill>
                          <a:schemeClr val="lt1"/>
                        </a:solidFill>
                        <a:effectLst/>
                        <a:latin typeface="+mn-lt"/>
                        <a:ea typeface="+mn-ea"/>
                        <a:cs typeface="+mn-cs"/>
                      </a:endParaRPr>
                    </a:p>
                  </a:txBody>
                  <a:tcPr>
                    <a:solidFill>
                      <a:schemeClr val="accent3">
                        <a:lumMod val="60000"/>
                        <a:lumOff val="40000"/>
                      </a:schemeClr>
                    </a:solidFill>
                  </a:tcPr>
                </a:tc>
              </a:tr>
            </a:tbl>
          </a:graphicData>
        </a:graphic>
      </p:graphicFrame>
    </p:spTree>
    <p:extLst>
      <p:ext uri="{BB962C8B-B14F-4D97-AF65-F5344CB8AC3E}">
        <p14:creationId xmlns:p14="http://schemas.microsoft.com/office/powerpoint/2010/main" val="31171839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4800" b="1" dirty="0"/>
              <a:t>Afritalent</a:t>
            </a:r>
            <a:r>
              <a:rPr lang="fr-FR" dirty="0"/>
              <a:t/>
            </a:r>
            <a:br>
              <a:rPr lang="fr-FR" dirty="0"/>
            </a:br>
            <a:r>
              <a:rPr lang="fr-FR" sz="2000" dirty="0">
                <a:solidFill>
                  <a:schemeClr val="accent3">
                    <a:lumMod val="20000"/>
                    <a:lumOff val="80000"/>
                  </a:schemeClr>
                </a:solidFill>
              </a:rPr>
              <a:t>Plateformes de freelance en Afrique</a:t>
            </a:r>
          </a:p>
        </p:txBody>
      </p:sp>
      <p:sp>
        <p:nvSpPr>
          <p:cNvPr id="3" name="Espace réservé du contenu 2"/>
          <p:cNvSpPr>
            <a:spLocks noGrp="1"/>
          </p:cNvSpPr>
          <p:nvPr>
            <p:ph sz="half" idx="1"/>
          </p:nvPr>
        </p:nvSpPr>
        <p:spPr>
          <a:xfrm>
            <a:off x="1103312" y="1753986"/>
            <a:ext cx="4396339" cy="2743200"/>
          </a:xfrm>
        </p:spPr>
        <p:txBody>
          <a:bodyPr>
            <a:normAutofit fontScale="70000" lnSpcReduction="20000"/>
          </a:bodyPr>
          <a:lstStyle/>
          <a:p>
            <a:r>
              <a:rPr lang="fr-FR" sz="3600" b="1" dirty="0"/>
              <a:t>Liens </a:t>
            </a:r>
            <a:r>
              <a:rPr lang="fr-FR" sz="3600" b="1" dirty="0" smtClean="0"/>
              <a:t>utiles</a:t>
            </a:r>
            <a:endParaRPr lang="fr-FR" sz="3600" b="1" dirty="0"/>
          </a:p>
          <a:p>
            <a:r>
              <a:rPr lang="fr-FR" sz="3600" dirty="0">
                <a:solidFill>
                  <a:schemeClr val="accent3">
                    <a:lumMod val="60000"/>
                    <a:lumOff val="40000"/>
                  </a:schemeClr>
                </a:solidFill>
                <a:hlinkClick r:id="rId2"/>
              </a:rPr>
              <a:t>Accueil</a:t>
            </a:r>
            <a:endParaRPr lang="fr-FR" sz="3600" dirty="0">
              <a:solidFill>
                <a:schemeClr val="accent3">
                  <a:lumMod val="60000"/>
                  <a:lumOff val="40000"/>
                </a:schemeClr>
              </a:solidFill>
            </a:endParaRPr>
          </a:p>
          <a:p>
            <a:r>
              <a:rPr lang="fr-FR" sz="3600" dirty="0">
                <a:solidFill>
                  <a:schemeClr val="accent3">
                    <a:lumMod val="60000"/>
                    <a:lumOff val="40000"/>
                  </a:schemeClr>
                </a:solidFill>
                <a:hlinkClick r:id="rId3"/>
              </a:rPr>
              <a:t>freelance</a:t>
            </a:r>
            <a:endParaRPr lang="fr-FR" sz="3600" dirty="0">
              <a:solidFill>
                <a:schemeClr val="accent3">
                  <a:lumMod val="60000"/>
                  <a:lumOff val="40000"/>
                </a:schemeClr>
              </a:solidFill>
            </a:endParaRPr>
          </a:p>
          <a:p>
            <a:r>
              <a:rPr lang="fr-FR" sz="3600" dirty="0">
                <a:solidFill>
                  <a:schemeClr val="accent3">
                    <a:lumMod val="60000"/>
                    <a:lumOff val="40000"/>
                  </a:schemeClr>
                </a:solidFill>
                <a:hlinkClick r:id="rId4"/>
              </a:rPr>
              <a:t>Contact</a:t>
            </a:r>
            <a:endParaRPr lang="fr-FR" sz="3600" dirty="0">
              <a:solidFill>
                <a:schemeClr val="accent3">
                  <a:lumMod val="60000"/>
                  <a:lumOff val="40000"/>
                </a:schemeClr>
              </a:solidFill>
            </a:endParaRPr>
          </a:p>
          <a:p>
            <a:r>
              <a:rPr lang="fr-FR" sz="3600" dirty="0">
                <a:solidFill>
                  <a:schemeClr val="accent3">
                    <a:lumMod val="60000"/>
                    <a:lumOff val="40000"/>
                  </a:schemeClr>
                </a:solidFill>
                <a:hlinkClick r:id="rId5"/>
              </a:rPr>
              <a:t>Tarifs</a:t>
            </a:r>
            <a:endParaRPr lang="fr-FR" sz="3600" dirty="0">
              <a:solidFill>
                <a:schemeClr val="accent3">
                  <a:lumMod val="60000"/>
                  <a:lumOff val="40000"/>
                </a:schemeClr>
              </a:solidFill>
            </a:endParaRPr>
          </a:p>
          <a:p>
            <a:r>
              <a:rPr lang="fr-FR" sz="3600" dirty="0">
                <a:solidFill>
                  <a:schemeClr val="accent3">
                    <a:lumMod val="60000"/>
                    <a:lumOff val="40000"/>
                  </a:schemeClr>
                </a:solidFill>
                <a:hlinkClick r:id="rId6"/>
              </a:rPr>
              <a:t>About</a:t>
            </a:r>
            <a:endParaRPr lang="fr-FR" sz="3600" dirty="0">
              <a:solidFill>
                <a:schemeClr val="accent3">
                  <a:lumMod val="60000"/>
                  <a:lumOff val="40000"/>
                </a:schemeClr>
              </a:solidFill>
            </a:endParaRPr>
          </a:p>
          <a:p>
            <a:endParaRPr lang="fr-FR" sz="3600" b="1" dirty="0"/>
          </a:p>
        </p:txBody>
      </p:sp>
      <p:sp>
        <p:nvSpPr>
          <p:cNvPr id="4" name="Espace réservé du contenu 3"/>
          <p:cNvSpPr>
            <a:spLocks noGrp="1"/>
          </p:cNvSpPr>
          <p:nvPr>
            <p:ph sz="half" idx="2"/>
          </p:nvPr>
        </p:nvSpPr>
        <p:spPr>
          <a:xfrm>
            <a:off x="5654493" y="1753986"/>
            <a:ext cx="4396341" cy="2809701"/>
          </a:xfrm>
        </p:spPr>
        <p:txBody>
          <a:bodyPr>
            <a:normAutofit fontScale="70000" lnSpcReduction="20000"/>
          </a:bodyPr>
          <a:lstStyle/>
          <a:p>
            <a:r>
              <a:rPr lang="fr-FR" sz="3600" b="1" dirty="0"/>
              <a:t>Ressources</a:t>
            </a:r>
          </a:p>
          <a:p>
            <a:r>
              <a:rPr lang="fr-FR" sz="3200" dirty="0">
                <a:hlinkClick r:id="rId2"/>
              </a:rPr>
              <a:t>tik tok</a:t>
            </a:r>
            <a:endParaRPr lang="fr-FR" sz="3200" dirty="0"/>
          </a:p>
          <a:p>
            <a:r>
              <a:rPr lang="fr-FR" sz="3200" dirty="0">
                <a:hlinkClick r:id="rId2"/>
              </a:rPr>
              <a:t>Instagram</a:t>
            </a:r>
            <a:endParaRPr lang="fr-FR" sz="3200" dirty="0"/>
          </a:p>
          <a:p>
            <a:r>
              <a:rPr lang="fr-FR" sz="3200" dirty="0" smtClean="0">
                <a:hlinkClick r:id="rId2"/>
              </a:rPr>
              <a:t>YouTube</a:t>
            </a:r>
            <a:endParaRPr lang="fr-FR" sz="3200" dirty="0"/>
          </a:p>
          <a:p>
            <a:endParaRPr lang="fr-FR" dirty="0"/>
          </a:p>
        </p:txBody>
      </p:sp>
      <p:graphicFrame>
        <p:nvGraphicFramePr>
          <p:cNvPr id="5" name="Tableau 4"/>
          <p:cNvGraphicFramePr>
            <a:graphicFrameLocks noGrp="1"/>
          </p:cNvGraphicFramePr>
          <p:nvPr>
            <p:extLst>
              <p:ext uri="{D42A27DB-BD31-4B8C-83A1-F6EECF244321}">
                <p14:modId xmlns:p14="http://schemas.microsoft.com/office/powerpoint/2010/main" val="1139583019"/>
              </p:ext>
            </p:extLst>
          </p:nvPr>
        </p:nvGraphicFramePr>
        <p:xfrm>
          <a:off x="7583054" y="4002903"/>
          <a:ext cx="4422371" cy="1862052"/>
        </p:xfrm>
        <a:graphic>
          <a:graphicData uri="http://schemas.openxmlformats.org/drawingml/2006/table">
            <a:tbl>
              <a:tblPr firstRow="1" bandRow="1">
                <a:tableStyleId>{5C22544A-7EE6-4342-B048-85BDC9FD1C3A}</a:tableStyleId>
              </a:tblPr>
              <a:tblGrid>
                <a:gridCol w="4422371"/>
              </a:tblGrid>
              <a:tr h="1862052">
                <a:tc>
                  <a:txBody>
                    <a:bodyPr/>
                    <a:lstStyle/>
                    <a:p>
                      <a:pPr algn="ctr"/>
                      <a:r>
                        <a:rPr lang="fr-FR" sz="1800" b="0" i="0" kern="1200" dirty="0" smtClean="0">
                          <a:solidFill>
                            <a:schemeClr val="bg1">
                              <a:lumMod val="95000"/>
                              <a:lumOff val="5000"/>
                            </a:schemeClr>
                          </a:solidFill>
                          <a:effectLst/>
                          <a:latin typeface="+mn-lt"/>
                          <a:ea typeface="+mn-ea"/>
                          <a:cs typeface="+mn-cs"/>
                        </a:rPr>
                        <a:t>Contact</a:t>
                      </a:r>
                    </a:p>
                    <a:p>
                      <a:pPr algn="ctr"/>
                      <a:endParaRPr lang="fr-FR" sz="1800" b="0" i="0" kern="1200" dirty="0" smtClean="0">
                        <a:solidFill>
                          <a:schemeClr val="bg1">
                            <a:lumMod val="95000"/>
                            <a:lumOff val="5000"/>
                          </a:schemeClr>
                        </a:solidFill>
                        <a:effectLst/>
                        <a:latin typeface="+mn-lt"/>
                        <a:ea typeface="+mn-ea"/>
                        <a:cs typeface="+mn-cs"/>
                      </a:endParaRPr>
                    </a:p>
                    <a:p>
                      <a:pPr algn="ctr"/>
                      <a:r>
                        <a:rPr lang="fr-FR" sz="1800" b="0" i="0" kern="1200" dirty="0" smtClean="0">
                          <a:solidFill>
                            <a:schemeClr val="bg1">
                              <a:lumMod val="95000"/>
                              <a:lumOff val="5000"/>
                            </a:schemeClr>
                          </a:solidFill>
                          <a:effectLst/>
                          <a:latin typeface="+mn-lt"/>
                          <a:ea typeface="+mn-ea"/>
                          <a:cs typeface="+mn-cs"/>
                          <a:hlinkClick r:id="rId7"/>
                        </a:rPr>
                        <a:t>ndiayeyakhouba079@gmail.com</a:t>
                      </a:r>
                      <a:endParaRPr lang="fr-FR" sz="1800" b="0" i="0" kern="1200" dirty="0" smtClean="0">
                        <a:solidFill>
                          <a:schemeClr val="bg1">
                            <a:lumMod val="95000"/>
                            <a:lumOff val="5000"/>
                          </a:schemeClr>
                        </a:solidFill>
                        <a:effectLst/>
                        <a:latin typeface="+mn-lt"/>
                        <a:ea typeface="+mn-ea"/>
                        <a:cs typeface="+mn-cs"/>
                      </a:endParaRPr>
                    </a:p>
                    <a:p>
                      <a:pPr algn="ctr"/>
                      <a:endParaRPr lang="fr-FR" sz="1800" b="0" i="0" kern="1200" dirty="0" smtClean="0">
                        <a:solidFill>
                          <a:schemeClr val="bg1">
                            <a:lumMod val="95000"/>
                            <a:lumOff val="5000"/>
                          </a:schemeClr>
                        </a:solidFill>
                        <a:effectLst/>
                        <a:latin typeface="+mn-lt"/>
                        <a:ea typeface="+mn-ea"/>
                        <a:cs typeface="+mn-cs"/>
                      </a:endParaRPr>
                    </a:p>
                    <a:p>
                      <a:pPr algn="ctr"/>
                      <a:r>
                        <a:rPr lang="fr-FR" sz="1800" b="0" i="1" kern="1200" dirty="0" smtClean="0">
                          <a:solidFill>
                            <a:schemeClr val="bg1">
                              <a:lumMod val="95000"/>
                              <a:lumOff val="5000"/>
                            </a:schemeClr>
                          </a:solidFill>
                          <a:effectLst/>
                          <a:latin typeface="+mn-lt"/>
                          <a:ea typeface="+mn-ea"/>
                          <a:cs typeface="+mn-cs"/>
                        </a:rPr>
                        <a:t>Tel: 78 476 63 34</a:t>
                      </a:r>
                      <a:r>
                        <a:rPr lang="fr-FR" sz="1800" b="0" i="0" kern="1200" dirty="0" smtClean="0">
                          <a:solidFill>
                            <a:schemeClr val="bg1">
                              <a:lumMod val="95000"/>
                              <a:lumOff val="5000"/>
                            </a:schemeClr>
                          </a:solidFill>
                          <a:effectLst/>
                          <a:latin typeface="+mn-lt"/>
                          <a:ea typeface="+mn-ea"/>
                          <a:cs typeface="+mn-cs"/>
                        </a:rPr>
                        <a:t> </a:t>
                      </a:r>
                      <a:r>
                        <a:rPr lang="fr-FR" sz="1800" b="0" i="1" kern="1200" dirty="0" smtClean="0">
                          <a:solidFill>
                            <a:schemeClr val="bg1">
                              <a:lumMod val="95000"/>
                              <a:lumOff val="5000"/>
                            </a:schemeClr>
                          </a:solidFill>
                          <a:effectLst/>
                          <a:latin typeface="+mn-lt"/>
                          <a:ea typeface="+mn-ea"/>
                          <a:cs typeface="+mn-cs"/>
                        </a:rPr>
                        <a:t>DAKAR, SENEGAL</a:t>
                      </a:r>
                      <a:endParaRPr lang="fr-FR" sz="1800" b="0" i="0" kern="1200" dirty="0">
                        <a:solidFill>
                          <a:schemeClr val="bg1">
                            <a:lumMod val="95000"/>
                            <a:lumOff val="5000"/>
                          </a:schemeClr>
                        </a:solidFill>
                        <a:effectLst/>
                        <a:latin typeface="+mn-lt"/>
                        <a:ea typeface="+mn-ea"/>
                        <a:cs typeface="+mn-cs"/>
                      </a:endParaRPr>
                    </a:p>
                  </a:txBody>
                  <a:tcPr anchor="ctr">
                    <a:solidFill>
                      <a:schemeClr val="accent3">
                        <a:lumMod val="20000"/>
                        <a:lumOff val="80000"/>
                      </a:schemeClr>
                    </a:solidFill>
                  </a:tcPr>
                </a:tc>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3184220263"/>
              </p:ext>
            </p:extLst>
          </p:nvPr>
        </p:nvGraphicFramePr>
        <p:xfrm>
          <a:off x="1666240" y="6264255"/>
          <a:ext cx="8128000" cy="370840"/>
        </p:xfrm>
        <a:graphic>
          <a:graphicData uri="http://schemas.openxmlformats.org/drawingml/2006/table">
            <a:tbl>
              <a:tblPr firstRow="1" bandRow="1">
                <a:tableStyleId>{5C22544A-7EE6-4342-B048-85BDC9FD1C3A}</a:tableStyleId>
              </a:tblPr>
              <a:tblGrid>
                <a:gridCol w="8128000"/>
              </a:tblGrid>
              <a:tr h="370840">
                <a:tc>
                  <a:txBody>
                    <a:bodyPr/>
                    <a:lstStyle/>
                    <a:p>
                      <a:pPr algn="ctr"/>
                      <a:r>
                        <a:rPr lang="fr-FR" sz="1800" b="0" i="0" kern="1200" dirty="0" smtClean="0">
                          <a:solidFill>
                            <a:schemeClr val="lt1"/>
                          </a:solidFill>
                          <a:effectLst/>
                          <a:latin typeface="+mn-lt"/>
                          <a:ea typeface="+mn-ea"/>
                          <a:cs typeface="+mn-cs"/>
                        </a:rPr>
                        <a:t>© 2026 AfriTalent. Tous droits réservés.</a:t>
                      </a:r>
                      <a:endParaRPr lang="fr-FR" dirty="0"/>
                    </a:p>
                  </a:txBody>
                  <a:tcPr>
                    <a:solidFill>
                      <a:schemeClr val="accent3">
                        <a:lumMod val="75000"/>
                      </a:schemeClr>
                    </a:solidFill>
                  </a:tcPr>
                </a:tc>
              </a:tr>
            </a:tbl>
          </a:graphicData>
        </a:graphic>
      </p:graphicFrame>
    </p:spTree>
    <p:extLst>
      <p:ext uri="{BB962C8B-B14F-4D97-AF65-F5344CB8AC3E}">
        <p14:creationId xmlns:p14="http://schemas.microsoft.com/office/powerpoint/2010/main" val="6566705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SN" b="1" dirty="0" smtClean="0">
                <a:effectLst>
                  <a:outerShdw blurRad="38100" dist="38100" dir="2700000" algn="tl">
                    <a:srgbClr val="000000">
                      <a:alpha val="43137"/>
                    </a:srgbClr>
                  </a:outerShdw>
                </a:effectLst>
              </a:rPr>
              <a:t>FREELANCES</a:t>
            </a:r>
            <a:endParaRPr lang="fr-FR" b="1" dirty="0">
              <a:effectLst>
                <a:outerShdw blurRad="38100" dist="38100" dir="2700000" algn="tl">
                  <a:srgbClr val="000000">
                    <a:alpha val="43137"/>
                  </a:srgbClr>
                </a:outerShdw>
              </a:effectLst>
            </a:endParaRPr>
          </a:p>
        </p:txBody>
      </p:sp>
      <p:graphicFrame>
        <p:nvGraphicFramePr>
          <p:cNvPr id="3" name="Tableau 2"/>
          <p:cNvGraphicFramePr>
            <a:graphicFrameLocks noGrp="1"/>
          </p:cNvGraphicFramePr>
          <p:nvPr>
            <p:extLst>
              <p:ext uri="{D42A27DB-BD31-4B8C-83A1-F6EECF244321}">
                <p14:modId xmlns:p14="http://schemas.microsoft.com/office/powerpoint/2010/main" val="621412252"/>
              </p:ext>
            </p:extLst>
          </p:nvPr>
        </p:nvGraphicFramePr>
        <p:xfrm>
          <a:off x="1508299" y="1122219"/>
          <a:ext cx="8128000" cy="1463040"/>
        </p:xfrm>
        <a:graphic>
          <a:graphicData uri="http://schemas.openxmlformats.org/drawingml/2006/table">
            <a:tbl>
              <a:tblPr firstRow="1" bandRow="1">
                <a:tableStyleId>{5C22544A-7EE6-4342-B048-85BDC9FD1C3A}</a:tableStyleId>
              </a:tblPr>
              <a:tblGrid>
                <a:gridCol w="8128000"/>
              </a:tblGrid>
              <a:tr h="1454726">
                <a:tc>
                  <a:txBody>
                    <a:bodyPr/>
                    <a:lstStyle/>
                    <a:p>
                      <a:pPr marL="285750" indent="-285750" algn="ctr">
                        <a:buFont typeface="Arial" panose="020B0604020202020204" pitchFamily="34" charset="0"/>
                        <a:buChar char="•"/>
                      </a:pPr>
                      <a:r>
                        <a:rPr lang="fr-SN" dirty="0" smtClean="0"/>
                        <a:t>BOUTON DE FILTRE</a:t>
                      </a:r>
                    </a:p>
                    <a:p>
                      <a:pPr marL="285750" indent="-285750" algn="ctr">
                        <a:buFont typeface="Arial" panose="020B0604020202020204" pitchFamily="34" charset="0"/>
                        <a:buChar char="•"/>
                      </a:pPr>
                      <a:endParaRPr lang="fr-SN" dirty="0" smtClean="0"/>
                    </a:p>
                    <a:p>
                      <a:pPr marL="285750" indent="-285750" algn="ctr">
                        <a:buFont typeface="Arial" panose="020B0604020202020204" pitchFamily="34" charset="0"/>
                        <a:buChar char="•"/>
                      </a:pPr>
                      <a:r>
                        <a:rPr lang="fr-FR" sz="1800" b="1" i="1" u="none" strike="noStrike" kern="1200" dirty="0" smtClean="0">
                          <a:solidFill>
                            <a:schemeClr val="lt1"/>
                          </a:solidFill>
                          <a:effectLst/>
                          <a:latin typeface="+mn-lt"/>
                          <a:ea typeface="+mn-ea"/>
                          <a:cs typeface="+mn-cs"/>
                          <a:hlinkClick r:id="rId2"/>
                        </a:rPr>
                        <a:t>Designer</a:t>
                      </a:r>
                      <a:r>
                        <a:rPr lang="fr-FR" sz="1800" b="1" i="1" kern="1200" dirty="0" smtClean="0">
                          <a:solidFill>
                            <a:schemeClr val="lt1"/>
                          </a:solidFill>
                          <a:effectLst/>
                          <a:latin typeface="+mn-lt"/>
                          <a:ea typeface="+mn-ea"/>
                          <a:cs typeface="+mn-cs"/>
                        </a:rPr>
                        <a:t> </a:t>
                      </a:r>
                      <a:r>
                        <a:rPr lang="fr-FR" sz="1800" b="1" i="1" u="none" strike="noStrike" kern="1200" dirty="0" smtClean="0">
                          <a:solidFill>
                            <a:schemeClr val="lt1"/>
                          </a:solidFill>
                          <a:effectLst/>
                          <a:latin typeface="+mn-lt"/>
                          <a:ea typeface="+mn-ea"/>
                          <a:cs typeface="+mn-cs"/>
                          <a:hlinkClick r:id="rId3"/>
                        </a:rPr>
                        <a:t>Marketing</a:t>
                      </a:r>
                      <a:endParaRPr lang="fr-SN" sz="1800" b="1" i="1" u="none" strike="noStrike" kern="1200" dirty="0" smtClean="0">
                        <a:solidFill>
                          <a:schemeClr val="lt1"/>
                        </a:solidFill>
                        <a:effectLst/>
                        <a:latin typeface="+mn-lt"/>
                        <a:ea typeface="+mn-ea"/>
                        <a:cs typeface="+mn-cs"/>
                        <a:hlinkClick r:id="rId4"/>
                      </a:endParaRPr>
                    </a:p>
                    <a:p>
                      <a:pPr marL="285750" indent="-285750" algn="ctr">
                        <a:buFont typeface="Arial" panose="020B0604020202020204" pitchFamily="34" charset="0"/>
                        <a:buChar char="•"/>
                      </a:pPr>
                      <a:endParaRPr lang="fr-SN" sz="1800" b="0" i="0" u="none" strike="noStrike" kern="1200" dirty="0" smtClean="0">
                        <a:solidFill>
                          <a:schemeClr val="lt1"/>
                        </a:solidFill>
                        <a:effectLst/>
                        <a:latin typeface="+mn-lt"/>
                        <a:ea typeface="+mn-ea"/>
                        <a:cs typeface="+mn-cs"/>
                        <a:hlinkClick r:id="rId4"/>
                      </a:endParaRPr>
                    </a:p>
                    <a:p>
                      <a:pPr marL="285750" indent="-285750" algn="ctr">
                        <a:buFont typeface="Arial" panose="020B0604020202020204" pitchFamily="34" charset="0"/>
                        <a:buChar char="•"/>
                      </a:pPr>
                      <a:r>
                        <a:rPr lang="fr-FR" sz="1800" b="1" i="1" u="none" strike="noStrike" kern="1200" dirty="0" smtClean="0">
                          <a:solidFill>
                            <a:schemeClr val="lt1"/>
                          </a:solidFill>
                          <a:effectLst/>
                          <a:latin typeface="+mn-lt"/>
                          <a:ea typeface="+mn-ea"/>
                          <a:cs typeface="+mn-cs"/>
                          <a:hlinkClick r:id="rId4"/>
                        </a:rPr>
                        <a:t>Tous</a:t>
                      </a:r>
                      <a:r>
                        <a:rPr lang="fr-FR" sz="1800" b="1" i="1" kern="1200" dirty="0" smtClean="0">
                          <a:solidFill>
                            <a:schemeClr val="lt1"/>
                          </a:solidFill>
                          <a:effectLst/>
                          <a:latin typeface="+mn-lt"/>
                          <a:ea typeface="+mn-ea"/>
                          <a:cs typeface="+mn-cs"/>
                        </a:rPr>
                        <a:t> </a:t>
                      </a:r>
                      <a:r>
                        <a:rPr lang="fr-FR" sz="1800" b="1" i="1" u="none" strike="noStrike" kern="1200" dirty="0" smtClean="0">
                          <a:solidFill>
                            <a:schemeClr val="lt1"/>
                          </a:solidFill>
                          <a:effectLst/>
                          <a:latin typeface="+mn-lt"/>
                          <a:ea typeface="+mn-ea"/>
                          <a:cs typeface="+mn-cs"/>
                          <a:hlinkClick r:id="rId5"/>
                        </a:rPr>
                        <a:t>Développeur</a:t>
                      </a:r>
                      <a:r>
                        <a:rPr lang="fr-FR" sz="1800" b="1" i="1" u="none" strike="noStrike" kern="1200" dirty="0" smtClean="0">
                          <a:solidFill>
                            <a:schemeClr val="lt1"/>
                          </a:solidFill>
                          <a:effectLst/>
                          <a:latin typeface="+mn-lt"/>
                          <a:ea typeface="+mn-ea"/>
                          <a:cs typeface="+mn-cs"/>
                        </a:rPr>
                        <a:t>    </a:t>
                      </a:r>
                      <a:endParaRPr lang="fr-FR" b="1" i="1" dirty="0"/>
                    </a:p>
                  </a:txBody>
                  <a:tcPr>
                    <a:solidFill>
                      <a:schemeClr val="accent3">
                        <a:lumMod val="75000"/>
                      </a:schemeClr>
                    </a:solidFill>
                  </a:tcPr>
                </a:tc>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2696058012"/>
              </p:ext>
            </p:extLst>
          </p:nvPr>
        </p:nvGraphicFramePr>
        <p:xfrm>
          <a:off x="1014152" y="2660073"/>
          <a:ext cx="9385070" cy="4081549"/>
        </p:xfrm>
        <a:graphic>
          <a:graphicData uri="http://schemas.openxmlformats.org/drawingml/2006/table">
            <a:tbl>
              <a:tblPr firstRow="1" bandRow="1">
                <a:tableStyleId>{5C22544A-7EE6-4342-B048-85BDC9FD1C3A}</a:tableStyleId>
              </a:tblPr>
              <a:tblGrid>
                <a:gridCol w="3466408"/>
                <a:gridCol w="5918662"/>
              </a:tblGrid>
              <a:tr h="4081549">
                <a:tc>
                  <a:txBody>
                    <a:bodyPr/>
                    <a:lstStyle/>
                    <a:p>
                      <a:pPr algn="ctr"/>
                      <a:r>
                        <a:rPr lang="fr-FR" sz="1800" b="1" i="0" kern="1200" dirty="0" smtClean="0">
                          <a:solidFill>
                            <a:schemeClr val="lt1"/>
                          </a:solidFill>
                          <a:effectLst/>
                          <a:latin typeface="+mn-lt"/>
                          <a:ea typeface="+mn-ea"/>
                          <a:cs typeface="+mn-cs"/>
                        </a:rPr>
                        <a:t>CONSULTEZ NOS </a:t>
                      </a:r>
                    </a:p>
                    <a:p>
                      <a:pPr algn="ctr"/>
                      <a:r>
                        <a:rPr lang="fr-FR" sz="1800" b="1" i="0" kern="1200" dirty="0" smtClean="0">
                          <a:solidFill>
                            <a:schemeClr val="lt1"/>
                          </a:solidFill>
                          <a:effectLst/>
                          <a:latin typeface="+mn-lt"/>
                          <a:ea typeface="+mn-ea"/>
                          <a:cs typeface="+mn-cs"/>
                        </a:rPr>
                        <a:t>MEILLEURS AGENTS</a:t>
                      </a:r>
                      <a:endParaRPr lang="fr-FR" sz="1800" b="1" i="0" kern="1200" dirty="0">
                        <a:solidFill>
                          <a:schemeClr val="lt1"/>
                        </a:solidFill>
                        <a:effectLst/>
                        <a:latin typeface="+mn-lt"/>
                        <a:ea typeface="+mn-ea"/>
                        <a:cs typeface="+mn-cs"/>
                      </a:endParaRPr>
                    </a:p>
                  </a:txBody>
                  <a:tcPr anchor="ctr">
                    <a:solidFill>
                      <a:schemeClr val="accent3">
                        <a:lumMod val="50000"/>
                      </a:schemeClr>
                    </a:solidFill>
                  </a:tcPr>
                </a:tc>
                <a:tc>
                  <a:txBody>
                    <a:bodyPr/>
                    <a:lstStyle/>
                    <a:p>
                      <a:endParaRPr lang="fr-FR" dirty="0"/>
                    </a:p>
                  </a:txBody>
                  <a:tcPr>
                    <a:solidFill>
                      <a:schemeClr val="tx1">
                        <a:lumMod val="95000"/>
                      </a:schemeClr>
                    </a:solidFill>
                  </a:tcPr>
                </a:tc>
              </a:tr>
            </a:tbl>
          </a:graphicData>
        </a:graphic>
      </p:graphicFrame>
      <p:pic>
        <p:nvPicPr>
          <p:cNvPr id="5" name="Imag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22124" y="2892829"/>
            <a:ext cx="5719156" cy="3848793"/>
          </a:xfrm>
          <a:prstGeom prst="rect">
            <a:avLst/>
          </a:prstGeom>
        </p:spPr>
      </p:pic>
    </p:spTree>
    <p:extLst>
      <p:ext uri="{BB962C8B-B14F-4D97-AF65-F5344CB8AC3E}">
        <p14:creationId xmlns:p14="http://schemas.microsoft.com/office/powerpoint/2010/main" val="1635320291"/>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SN" sz="4800" b="1" dirty="0" smtClean="0"/>
              <a:t>NOS TARIFS</a:t>
            </a:r>
            <a:r>
              <a:rPr lang="fr-FR" b="1" dirty="0" smtClean="0"/>
              <a:t/>
            </a:r>
            <a:br>
              <a:rPr lang="fr-FR" b="1" dirty="0" smtClean="0"/>
            </a:br>
            <a:endParaRPr lang="fr-FR" b="1" dirty="0"/>
          </a:p>
        </p:txBody>
      </p:sp>
      <p:graphicFrame>
        <p:nvGraphicFramePr>
          <p:cNvPr id="3" name="Tableau 2"/>
          <p:cNvGraphicFramePr>
            <a:graphicFrameLocks noGrp="1"/>
          </p:cNvGraphicFramePr>
          <p:nvPr>
            <p:extLst>
              <p:ext uri="{D42A27DB-BD31-4B8C-83A1-F6EECF244321}">
                <p14:modId xmlns:p14="http://schemas.microsoft.com/office/powerpoint/2010/main" val="2753063669"/>
              </p:ext>
            </p:extLst>
          </p:nvPr>
        </p:nvGraphicFramePr>
        <p:xfrm>
          <a:off x="224445" y="1852758"/>
          <a:ext cx="3848791" cy="1765328"/>
        </p:xfrm>
        <a:graphic>
          <a:graphicData uri="http://schemas.openxmlformats.org/drawingml/2006/table">
            <a:tbl>
              <a:tblPr firstRow="1" bandRow="1">
                <a:tableStyleId>{5C22544A-7EE6-4342-B048-85BDC9FD1C3A}</a:tableStyleId>
              </a:tblPr>
              <a:tblGrid>
                <a:gridCol w="3848791"/>
              </a:tblGrid>
              <a:tr h="1765328">
                <a:tc>
                  <a:txBody>
                    <a:bodyPr/>
                    <a:lstStyle/>
                    <a:p>
                      <a:pPr algn="ctr"/>
                      <a:endParaRPr lang="fr-FR" sz="1800" b="1" i="0" kern="1200" dirty="0" smtClean="0">
                        <a:solidFill>
                          <a:schemeClr val="lt1"/>
                        </a:solidFill>
                        <a:effectLst/>
                        <a:latin typeface="+mn-lt"/>
                        <a:ea typeface="+mn-ea"/>
                        <a:cs typeface="+mn-cs"/>
                      </a:endParaRPr>
                    </a:p>
                    <a:p>
                      <a:pPr algn="ctr"/>
                      <a:r>
                        <a:rPr lang="fr-FR" sz="2400" b="1" i="0" kern="1200" dirty="0" smtClean="0">
                          <a:solidFill>
                            <a:schemeClr val="lt1"/>
                          </a:solidFill>
                          <a:effectLst/>
                          <a:latin typeface="+mn-lt"/>
                          <a:ea typeface="+mn-ea"/>
                          <a:cs typeface="+mn-cs"/>
                        </a:rPr>
                        <a:t>Nos Plans Tarifaires</a:t>
                      </a:r>
                    </a:p>
                    <a:p>
                      <a:endParaRPr lang="fr-FR" sz="1800" b="1" i="0" kern="1200" dirty="0" smtClean="0">
                        <a:solidFill>
                          <a:schemeClr val="lt1"/>
                        </a:solidFill>
                        <a:effectLst/>
                        <a:latin typeface="+mn-lt"/>
                        <a:ea typeface="+mn-ea"/>
                        <a:cs typeface="+mn-cs"/>
                      </a:endParaRPr>
                    </a:p>
                    <a:p>
                      <a:r>
                        <a:rPr lang="fr-FR" sz="1800" b="0" i="0" kern="1200" dirty="0" smtClean="0">
                          <a:solidFill>
                            <a:schemeClr val="bg1">
                              <a:lumMod val="95000"/>
                              <a:lumOff val="5000"/>
                            </a:schemeClr>
                          </a:solidFill>
                          <a:effectLst/>
                          <a:latin typeface="+mn-lt"/>
                          <a:ea typeface="+mn-ea"/>
                          <a:cs typeface="+mn-cs"/>
                        </a:rPr>
                        <a:t>Choisissez le plan qui vous convient le mieux.</a:t>
                      </a:r>
                      <a:endParaRPr lang="fr-FR" sz="1800" b="0" i="0" kern="1200" dirty="0">
                        <a:solidFill>
                          <a:schemeClr val="bg1">
                            <a:lumMod val="95000"/>
                            <a:lumOff val="5000"/>
                          </a:schemeClr>
                        </a:solidFill>
                        <a:effectLst/>
                        <a:latin typeface="+mn-lt"/>
                        <a:ea typeface="+mn-ea"/>
                        <a:cs typeface="+mn-cs"/>
                      </a:endParaRPr>
                    </a:p>
                  </a:txBody>
                  <a:tcPr>
                    <a:solidFill>
                      <a:schemeClr val="accent3">
                        <a:lumMod val="75000"/>
                      </a:schemeClr>
                    </a:solidFill>
                  </a:tcPr>
                </a:tc>
              </a:tr>
            </a:tbl>
          </a:graphicData>
        </a:graphic>
      </p:graphicFrame>
      <p:graphicFrame>
        <p:nvGraphicFramePr>
          <p:cNvPr id="4" name="Tableau 3"/>
          <p:cNvGraphicFramePr>
            <a:graphicFrameLocks noGrp="1"/>
          </p:cNvGraphicFramePr>
          <p:nvPr>
            <p:extLst>
              <p:ext uri="{D42A27DB-BD31-4B8C-83A1-F6EECF244321}">
                <p14:modId xmlns:p14="http://schemas.microsoft.com/office/powerpoint/2010/main" val="4200636676"/>
              </p:ext>
            </p:extLst>
          </p:nvPr>
        </p:nvGraphicFramePr>
        <p:xfrm>
          <a:off x="4494903" y="1853248"/>
          <a:ext cx="7078262" cy="4630679"/>
        </p:xfrm>
        <a:graphic>
          <a:graphicData uri="http://schemas.openxmlformats.org/drawingml/2006/table">
            <a:tbl>
              <a:tblPr firstRow="1" bandRow="1">
                <a:tableStyleId>{5C22544A-7EE6-4342-B048-85BDC9FD1C3A}</a:tableStyleId>
              </a:tblPr>
              <a:tblGrid>
                <a:gridCol w="7078262"/>
              </a:tblGrid>
              <a:tr h="4630679">
                <a:tc>
                  <a:txBody>
                    <a:bodyPr/>
                    <a:lstStyle/>
                    <a:p>
                      <a:endParaRPr lang="fr-FR" dirty="0"/>
                    </a:p>
                  </a:txBody>
                  <a:tcPr>
                    <a:solidFill>
                      <a:schemeClr val="accent3">
                        <a:lumMod val="20000"/>
                        <a:lumOff val="80000"/>
                      </a:schemeClr>
                    </a:solidFill>
                  </a:tcPr>
                </a:tc>
              </a:tr>
            </a:tbl>
          </a:graphicData>
        </a:graphic>
      </p:graphicFrame>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8626" y="1953491"/>
            <a:ext cx="6867236" cy="4438996"/>
          </a:xfrm>
          <a:prstGeom prst="rect">
            <a:avLst/>
          </a:prstGeom>
        </p:spPr>
      </p:pic>
    </p:spTree>
    <p:extLst>
      <p:ext uri="{BB962C8B-B14F-4D97-AF65-F5344CB8AC3E}">
        <p14:creationId xmlns:p14="http://schemas.microsoft.com/office/powerpoint/2010/main" val="3427000481"/>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1434529891"/>
              </p:ext>
            </p:extLst>
          </p:nvPr>
        </p:nvGraphicFramePr>
        <p:xfrm>
          <a:off x="161637" y="212589"/>
          <a:ext cx="7120312" cy="2346960"/>
        </p:xfrm>
        <a:graphic>
          <a:graphicData uri="http://schemas.openxmlformats.org/drawingml/2006/table">
            <a:tbl>
              <a:tblPr firstRow="1" bandRow="1">
                <a:tableStyleId>{5C22544A-7EE6-4342-B048-85BDC9FD1C3A}</a:tableStyleId>
              </a:tblPr>
              <a:tblGrid>
                <a:gridCol w="7120312"/>
              </a:tblGrid>
              <a:tr h="2214727">
                <a:tc>
                  <a:txBody>
                    <a:bodyPr/>
                    <a:lstStyle/>
                    <a:p>
                      <a:endParaRPr lang="fr-FR" sz="1800" b="1" i="0" kern="1200" dirty="0" smtClean="0">
                        <a:solidFill>
                          <a:schemeClr val="lt1"/>
                        </a:solidFill>
                        <a:effectLst/>
                        <a:latin typeface="+mn-lt"/>
                        <a:ea typeface="+mn-ea"/>
                        <a:cs typeface="+mn-cs"/>
                      </a:endParaRPr>
                    </a:p>
                    <a:p>
                      <a:pPr algn="ctr"/>
                      <a:r>
                        <a:rPr lang="fr-FR" sz="4000" b="1" i="0" kern="1200" dirty="0" smtClean="0">
                          <a:solidFill>
                            <a:schemeClr val="lt1"/>
                          </a:solidFill>
                          <a:effectLst/>
                          <a:latin typeface="+mn-lt"/>
                          <a:ea typeface="+mn-ea"/>
                          <a:cs typeface="+mn-cs"/>
                        </a:rPr>
                        <a:t>Notre histoire</a:t>
                      </a:r>
                    </a:p>
                    <a:p>
                      <a:endParaRPr lang="fr-SN" sz="1800" b="1" i="0" kern="1200" dirty="0" smtClean="0">
                        <a:solidFill>
                          <a:schemeClr val="lt1"/>
                        </a:solidFill>
                        <a:effectLst/>
                        <a:latin typeface="+mn-lt"/>
                        <a:ea typeface="+mn-ea"/>
                        <a:cs typeface="+mn-cs"/>
                      </a:endParaRPr>
                    </a:p>
                    <a:p>
                      <a:endParaRPr lang="fr-FR" sz="1800" b="1" i="0" kern="1200" dirty="0" smtClean="0">
                        <a:solidFill>
                          <a:schemeClr val="lt1"/>
                        </a:solidFill>
                        <a:effectLst/>
                        <a:latin typeface="+mn-lt"/>
                        <a:ea typeface="+mn-ea"/>
                        <a:cs typeface="+mn-cs"/>
                      </a:endParaRPr>
                    </a:p>
                    <a:p>
                      <a:r>
                        <a:rPr lang="fr-FR" sz="1800" b="0" i="0" kern="1200" dirty="0" smtClean="0">
                          <a:solidFill>
                            <a:schemeClr val="lt1"/>
                          </a:solidFill>
                          <a:effectLst/>
                          <a:latin typeface="+mn-lt"/>
                          <a:ea typeface="+mn-ea"/>
                          <a:cs typeface="+mn-cs"/>
                        </a:rPr>
                        <a:t>Notre plateforme a été créée pour aider les freelances et les clients à travailler ensemble facilement. Depuis notre création, nous avons accompagné plusieurs utilisateurs dans leurs projets numériques.</a:t>
                      </a:r>
                      <a:endParaRPr lang="fr-FR" sz="1800" b="0" i="0" kern="1200" dirty="0">
                        <a:solidFill>
                          <a:schemeClr val="lt1"/>
                        </a:solidFill>
                        <a:effectLst/>
                        <a:latin typeface="+mn-lt"/>
                        <a:ea typeface="+mn-ea"/>
                        <a:cs typeface="+mn-cs"/>
                      </a:endParaRPr>
                    </a:p>
                  </a:txBody>
                  <a:tcPr>
                    <a:solidFill>
                      <a:schemeClr val="accent3">
                        <a:lumMod val="60000"/>
                        <a:lumOff val="40000"/>
                      </a:schemeClr>
                    </a:solidFill>
                  </a:tcPr>
                </a:tc>
              </a:tr>
            </a:tbl>
          </a:graphicData>
        </a:graphic>
      </p:graphicFrame>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1207" y="1328703"/>
            <a:ext cx="4389120" cy="349267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709392762"/>
              </p:ext>
            </p:extLst>
          </p:nvPr>
        </p:nvGraphicFramePr>
        <p:xfrm>
          <a:off x="-1" y="2967644"/>
          <a:ext cx="6309361" cy="3657600"/>
        </p:xfrm>
        <a:graphic>
          <a:graphicData uri="http://schemas.openxmlformats.org/drawingml/2006/table">
            <a:tbl>
              <a:tblPr firstRow="1" bandRow="1">
                <a:tableStyleId>{5C22544A-7EE6-4342-B048-85BDC9FD1C3A}</a:tableStyleId>
              </a:tblPr>
              <a:tblGrid>
                <a:gridCol w="6309361"/>
              </a:tblGrid>
              <a:tr h="3308465">
                <a:tc>
                  <a:txBody>
                    <a:bodyPr/>
                    <a:lstStyle/>
                    <a:p>
                      <a:pPr algn="ctr"/>
                      <a:r>
                        <a:rPr lang="fr-FR" sz="1800" b="1" i="0" kern="1200" dirty="0" smtClean="0">
                          <a:solidFill>
                            <a:schemeClr val="lt1"/>
                          </a:solidFill>
                          <a:effectLst/>
                          <a:latin typeface="+mn-lt"/>
                          <a:ea typeface="+mn-ea"/>
                          <a:cs typeface="+mn-cs"/>
                        </a:rPr>
                        <a:t>chiffres clés</a:t>
                      </a:r>
                    </a:p>
                    <a:p>
                      <a:endParaRPr lang="fr-FR" sz="1800" b="1" i="0" kern="1200" dirty="0" smtClean="0">
                        <a:solidFill>
                          <a:schemeClr val="lt1"/>
                        </a:solidFill>
                        <a:effectLst/>
                        <a:latin typeface="+mn-lt"/>
                        <a:ea typeface="+mn-ea"/>
                        <a:cs typeface="+mn-cs"/>
                      </a:endParaRPr>
                    </a:p>
                    <a:p>
                      <a:pPr algn="ctr"/>
                      <a:r>
                        <a:rPr lang="fr-FR" sz="1800" b="0" i="0" kern="1200" dirty="0" smtClean="0">
                          <a:solidFill>
                            <a:schemeClr val="lt1"/>
                          </a:solidFill>
                          <a:effectLst/>
                          <a:latin typeface="+mn-lt"/>
                          <a:ea typeface="+mn-ea"/>
                          <a:cs typeface="+mn-cs"/>
                        </a:rPr>
                        <a:t>+</a:t>
                      </a:r>
                      <a:r>
                        <a:rPr lang="fr-FR" sz="1800" b="0" i="1" kern="1200" dirty="0" smtClean="0">
                          <a:solidFill>
                            <a:schemeClr val="bg2">
                              <a:lumMod val="60000"/>
                              <a:lumOff val="40000"/>
                            </a:schemeClr>
                          </a:solidFill>
                          <a:effectLst/>
                          <a:latin typeface="+mn-lt"/>
                          <a:ea typeface="+mn-ea"/>
                          <a:cs typeface="+mn-cs"/>
                        </a:rPr>
                        <a:t>10</a:t>
                      </a:r>
                      <a:r>
                        <a:rPr lang="fr-FR" sz="1800" b="0" i="1" kern="1200" dirty="0" smtClean="0">
                          <a:solidFill>
                            <a:schemeClr val="lt1"/>
                          </a:solidFill>
                          <a:effectLst/>
                          <a:latin typeface="+mn-lt"/>
                          <a:ea typeface="+mn-ea"/>
                          <a:cs typeface="+mn-cs"/>
                        </a:rPr>
                        <a:t> </a:t>
                      </a:r>
                      <a:r>
                        <a:rPr lang="fr-FR" sz="1800" b="0" i="1" kern="1200" dirty="0" smtClean="0">
                          <a:solidFill>
                            <a:schemeClr val="bg2">
                              <a:lumMod val="60000"/>
                              <a:lumOff val="40000"/>
                            </a:schemeClr>
                          </a:solidFill>
                          <a:effectLst/>
                          <a:latin typeface="+mn-lt"/>
                          <a:ea typeface="+mn-ea"/>
                          <a:cs typeface="+mn-cs"/>
                        </a:rPr>
                        <a:t>000</a:t>
                      </a:r>
                    </a:p>
                    <a:p>
                      <a:pPr algn="ctr"/>
                      <a:r>
                        <a:rPr lang="fr-FR" sz="1800" b="1" i="0" kern="1200" dirty="0" smtClean="0">
                          <a:solidFill>
                            <a:schemeClr val="lt1"/>
                          </a:solidFill>
                          <a:effectLst/>
                          <a:latin typeface="+mn-lt"/>
                          <a:ea typeface="+mn-ea"/>
                          <a:cs typeface="+mn-cs"/>
                        </a:rPr>
                        <a:t>utilisateurs actifs.</a:t>
                      </a:r>
                    </a:p>
                    <a:p>
                      <a:pPr algn="ctr"/>
                      <a:endParaRPr lang="fr-FR" sz="1800" b="0" i="0" kern="1200" dirty="0" smtClean="0">
                        <a:solidFill>
                          <a:schemeClr val="lt1"/>
                        </a:solidFill>
                        <a:effectLst/>
                        <a:latin typeface="+mn-lt"/>
                        <a:ea typeface="+mn-ea"/>
                        <a:cs typeface="+mn-cs"/>
                      </a:endParaRPr>
                    </a:p>
                    <a:p>
                      <a:pPr algn="ctr"/>
                      <a:r>
                        <a:rPr lang="fr-FR" sz="1800" b="0" i="1" kern="1200" dirty="0" smtClean="0">
                          <a:solidFill>
                            <a:schemeClr val="lt1"/>
                          </a:solidFill>
                          <a:effectLst/>
                          <a:latin typeface="+mn-lt"/>
                          <a:ea typeface="+mn-ea"/>
                          <a:cs typeface="+mn-cs"/>
                        </a:rPr>
                        <a:t>+</a:t>
                      </a:r>
                      <a:r>
                        <a:rPr lang="fr-FR" sz="1800" b="0" i="1" kern="1200" dirty="0" smtClean="0">
                          <a:solidFill>
                            <a:srgbClr val="00B0F0"/>
                          </a:solidFill>
                          <a:effectLst/>
                          <a:latin typeface="+mn-lt"/>
                          <a:ea typeface="+mn-ea"/>
                          <a:cs typeface="+mn-cs"/>
                        </a:rPr>
                        <a:t>5</a:t>
                      </a:r>
                      <a:r>
                        <a:rPr lang="fr-FR" sz="1800" b="0" i="1" kern="1200" dirty="0" smtClean="0">
                          <a:solidFill>
                            <a:schemeClr val="lt1"/>
                          </a:solidFill>
                          <a:effectLst/>
                          <a:latin typeface="+mn-lt"/>
                          <a:ea typeface="+mn-ea"/>
                          <a:cs typeface="+mn-cs"/>
                        </a:rPr>
                        <a:t> </a:t>
                      </a:r>
                      <a:r>
                        <a:rPr lang="fr-FR" sz="1800" b="0" i="1" kern="1200" dirty="0" smtClean="0">
                          <a:solidFill>
                            <a:srgbClr val="00B0F0"/>
                          </a:solidFill>
                          <a:effectLst/>
                          <a:latin typeface="+mn-lt"/>
                          <a:ea typeface="+mn-ea"/>
                          <a:cs typeface="+mn-cs"/>
                        </a:rPr>
                        <a:t>000</a:t>
                      </a:r>
                    </a:p>
                    <a:p>
                      <a:pPr algn="ctr"/>
                      <a:r>
                        <a:rPr lang="fr-FR" sz="1800" b="1" i="0" kern="1200" dirty="0" smtClean="0">
                          <a:solidFill>
                            <a:schemeClr val="lt1"/>
                          </a:solidFill>
                          <a:effectLst/>
                          <a:latin typeface="+mn-lt"/>
                          <a:ea typeface="+mn-ea"/>
                          <a:cs typeface="+mn-cs"/>
                        </a:rPr>
                        <a:t>Projets réalisés.</a:t>
                      </a:r>
                    </a:p>
                    <a:p>
                      <a:pPr algn="ctr"/>
                      <a:endParaRPr lang="fr-FR" sz="1800" b="0" i="0" kern="1200" dirty="0" smtClean="0">
                        <a:solidFill>
                          <a:schemeClr val="lt1"/>
                        </a:solidFill>
                        <a:effectLst/>
                        <a:latin typeface="+mn-lt"/>
                        <a:ea typeface="+mn-ea"/>
                        <a:cs typeface="+mn-cs"/>
                      </a:endParaRPr>
                    </a:p>
                    <a:p>
                      <a:pPr algn="ctr"/>
                      <a:r>
                        <a:rPr lang="fr-FR" sz="1800" b="0" i="0" kern="1200" dirty="0" smtClean="0">
                          <a:solidFill>
                            <a:schemeClr val="lt1"/>
                          </a:solidFill>
                          <a:effectLst/>
                          <a:latin typeface="+mn-lt"/>
                          <a:ea typeface="+mn-ea"/>
                          <a:cs typeface="+mn-cs"/>
                        </a:rPr>
                        <a:t>+</a:t>
                      </a:r>
                      <a:r>
                        <a:rPr lang="fr-FR" sz="1800" b="0" i="1" kern="1200" dirty="0" smtClean="0">
                          <a:solidFill>
                            <a:srgbClr val="FF0000"/>
                          </a:solidFill>
                          <a:effectLst/>
                          <a:latin typeface="+mn-lt"/>
                          <a:ea typeface="+mn-ea"/>
                          <a:cs typeface="+mn-cs"/>
                        </a:rPr>
                        <a:t>300</a:t>
                      </a:r>
                    </a:p>
                    <a:p>
                      <a:pPr algn="ctr"/>
                      <a:r>
                        <a:rPr lang="fr-FR" sz="1800" b="1" i="0" kern="1200" dirty="0" smtClean="0">
                          <a:solidFill>
                            <a:schemeClr val="lt1"/>
                          </a:solidFill>
                          <a:effectLst/>
                          <a:latin typeface="+mn-lt"/>
                          <a:ea typeface="+mn-ea"/>
                          <a:cs typeface="+mn-cs"/>
                        </a:rPr>
                        <a:t>Entreprises partenaires.</a:t>
                      </a:r>
                    </a:p>
                    <a:p>
                      <a:pPr algn="ctr"/>
                      <a:endParaRPr lang="fr-FR" sz="1800" b="0" i="0" kern="1200" dirty="0" smtClean="0">
                        <a:solidFill>
                          <a:schemeClr val="lt1"/>
                        </a:solidFill>
                        <a:effectLst/>
                        <a:latin typeface="+mn-lt"/>
                        <a:ea typeface="+mn-ea"/>
                        <a:cs typeface="+mn-cs"/>
                      </a:endParaRPr>
                    </a:p>
                    <a:p>
                      <a:pPr algn="ctr"/>
                      <a:r>
                        <a:rPr lang="fr-FR" sz="1800" b="0" i="1" kern="1200" dirty="0" smtClean="0">
                          <a:solidFill>
                            <a:schemeClr val="bg2">
                              <a:lumMod val="50000"/>
                            </a:schemeClr>
                          </a:solidFill>
                          <a:effectLst/>
                          <a:latin typeface="+mn-lt"/>
                          <a:ea typeface="+mn-ea"/>
                          <a:cs typeface="+mn-cs"/>
                        </a:rPr>
                        <a:t>98</a:t>
                      </a:r>
                      <a:r>
                        <a:rPr lang="fr-FR" sz="1800" b="0" i="1" kern="1200" dirty="0" smtClean="0">
                          <a:solidFill>
                            <a:schemeClr val="lt1"/>
                          </a:solidFill>
                          <a:effectLst/>
                          <a:latin typeface="+mn-lt"/>
                          <a:ea typeface="+mn-ea"/>
                          <a:cs typeface="+mn-cs"/>
                        </a:rPr>
                        <a:t>%</a:t>
                      </a:r>
                    </a:p>
                    <a:p>
                      <a:pPr algn="ctr"/>
                      <a:r>
                        <a:rPr lang="fr-FR" sz="1800" b="1" i="0" kern="1200" dirty="0" smtClean="0">
                          <a:solidFill>
                            <a:schemeClr val="lt1"/>
                          </a:solidFill>
                          <a:effectLst/>
                          <a:latin typeface="+mn-lt"/>
                          <a:ea typeface="+mn-ea"/>
                          <a:cs typeface="+mn-cs"/>
                        </a:rPr>
                        <a:t>Taux de satisfaction.</a:t>
                      </a:r>
                      <a:endParaRPr lang="fr-FR" sz="1800" b="1" i="0" kern="1200" dirty="0">
                        <a:solidFill>
                          <a:schemeClr val="lt1"/>
                        </a:solidFill>
                        <a:effectLst/>
                        <a:latin typeface="+mn-lt"/>
                        <a:ea typeface="+mn-ea"/>
                        <a:cs typeface="+mn-cs"/>
                      </a:endParaRPr>
                    </a:p>
                  </a:txBody>
                  <a:tcPr>
                    <a:solidFill>
                      <a:schemeClr val="accent3">
                        <a:lumMod val="50000"/>
                      </a:schemeClr>
                    </a:solidFill>
                  </a:tcPr>
                </a:tc>
              </a:tr>
            </a:tbl>
          </a:graphicData>
        </a:graphic>
      </p:graphicFrame>
    </p:spTree>
    <p:extLst>
      <p:ext uri="{BB962C8B-B14F-4D97-AF65-F5344CB8AC3E}">
        <p14:creationId xmlns:p14="http://schemas.microsoft.com/office/powerpoint/2010/main" val="3907336599"/>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2316717094"/>
              </p:ext>
            </p:extLst>
          </p:nvPr>
        </p:nvGraphicFramePr>
        <p:xfrm>
          <a:off x="286327" y="270777"/>
          <a:ext cx="8128000" cy="1258763"/>
        </p:xfrm>
        <a:graphic>
          <a:graphicData uri="http://schemas.openxmlformats.org/drawingml/2006/table">
            <a:tbl>
              <a:tblPr firstRow="1" bandRow="1">
                <a:tableStyleId>{5C22544A-7EE6-4342-B048-85BDC9FD1C3A}</a:tableStyleId>
              </a:tblPr>
              <a:tblGrid>
                <a:gridCol w="8128000"/>
              </a:tblGrid>
              <a:tr h="1258763">
                <a:tc>
                  <a:txBody>
                    <a:bodyPr/>
                    <a:lstStyle/>
                    <a:p>
                      <a:pPr algn="ctr"/>
                      <a:r>
                        <a:rPr lang="fr-FR" sz="3200" b="1" i="0" kern="1200" dirty="0" smtClean="0">
                          <a:solidFill>
                            <a:schemeClr val="bg1">
                              <a:lumMod val="95000"/>
                              <a:lumOff val="5000"/>
                            </a:schemeClr>
                          </a:solidFill>
                          <a:effectLst/>
                          <a:latin typeface="+mn-lt"/>
                          <a:ea typeface="+mn-ea"/>
                          <a:cs typeface="+mn-cs"/>
                        </a:rPr>
                        <a:t>contactez-nous⬇️</a:t>
                      </a:r>
                    </a:p>
                    <a:p>
                      <a:endParaRPr lang="fr-FR" sz="1800" b="1" i="0" kern="1200" dirty="0" smtClean="0">
                        <a:solidFill>
                          <a:schemeClr val="tx1">
                            <a:lumMod val="50000"/>
                          </a:schemeClr>
                        </a:solidFill>
                        <a:effectLst/>
                        <a:latin typeface="+mn-lt"/>
                        <a:ea typeface="+mn-ea"/>
                        <a:cs typeface="+mn-cs"/>
                      </a:endParaRPr>
                    </a:p>
                    <a:p>
                      <a:pPr algn="ctr"/>
                      <a:r>
                        <a:rPr lang="fr-FR" sz="1800" b="0" i="0" kern="1200" dirty="0" smtClean="0">
                          <a:solidFill>
                            <a:schemeClr val="tx1">
                              <a:lumMod val="50000"/>
                            </a:schemeClr>
                          </a:solidFill>
                          <a:effectLst/>
                          <a:latin typeface="+mn-lt"/>
                          <a:ea typeface="+mn-ea"/>
                          <a:cs typeface="+mn-cs"/>
                        </a:rPr>
                        <a:t>Renseigner le champ de formulaire</a:t>
                      </a:r>
                      <a:endParaRPr lang="fr-FR" sz="1800" b="0" i="0" kern="1200" dirty="0">
                        <a:solidFill>
                          <a:schemeClr val="tx1">
                            <a:lumMod val="50000"/>
                          </a:schemeClr>
                        </a:solidFill>
                        <a:effectLst/>
                        <a:latin typeface="+mn-lt"/>
                        <a:ea typeface="+mn-ea"/>
                        <a:cs typeface="+mn-cs"/>
                      </a:endParaRPr>
                    </a:p>
                  </a:txBody>
                  <a:tcPr>
                    <a:solidFill>
                      <a:schemeClr val="accent3">
                        <a:lumMod val="40000"/>
                        <a:lumOff val="60000"/>
                      </a:schemeClr>
                    </a:solidFill>
                  </a:tcPr>
                </a:tc>
              </a:tr>
            </a:tbl>
          </a:graphicData>
        </a:graphic>
      </p:graphicFrame>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25" y="2094620"/>
            <a:ext cx="6904182" cy="3746610"/>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4274276785"/>
              </p:ext>
            </p:extLst>
          </p:nvPr>
        </p:nvGraphicFramePr>
        <p:xfrm>
          <a:off x="7955281" y="2779205"/>
          <a:ext cx="3773977" cy="1188720"/>
        </p:xfrm>
        <a:graphic>
          <a:graphicData uri="http://schemas.openxmlformats.org/drawingml/2006/table">
            <a:tbl>
              <a:tblPr firstRow="1" bandRow="1">
                <a:tableStyleId>{5C22544A-7EE6-4342-B048-85BDC9FD1C3A}</a:tableStyleId>
              </a:tblPr>
              <a:tblGrid>
                <a:gridCol w="3773977"/>
              </a:tblGrid>
              <a:tr h="518006">
                <a:tc>
                  <a:txBody>
                    <a:bodyPr/>
                    <a:lstStyle/>
                    <a:p>
                      <a:pPr algn="ctr"/>
                      <a:r>
                        <a:rPr lang="fr-FR" sz="1800" b="1" i="0" kern="1200" dirty="0" smtClean="0">
                          <a:solidFill>
                            <a:srgbClr val="00B0F0"/>
                          </a:solidFill>
                          <a:effectLst/>
                          <a:latin typeface="+mn-lt"/>
                          <a:ea typeface="+mn-ea"/>
                          <a:cs typeface="+mn-cs"/>
                        </a:rPr>
                        <a:t>Nos coordonnées</a:t>
                      </a:r>
                    </a:p>
                    <a:p>
                      <a:r>
                        <a:rPr lang="fr-FR" sz="1800" b="1" i="0" kern="1200" dirty="0" smtClean="0">
                          <a:solidFill>
                            <a:schemeClr val="lt1"/>
                          </a:solidFill>
                          <a:effectLst/>
                          <a:latin typeface="+mn-lt"/>
                          <a:ea typeface="+mn-ea"/>
                          <a:cs typeface="+mn-cs"/>
                        </a:rPr>
                        <a:t>Email :</a:t>
                      </a:r>
                      <a:endParaRPr lang="fr-FR" sz="1800" b="0" i="0" kern="1200" dirty="0" smtClean="0">
                        <a:solidFill>
                          <a:schemeClr val="lt1"/>
                        </a:solidFill>
                        <a:effectLst/>
                        <a:latin typeface="+mn-lt"/>
                        <a:ea typeface="+mn-ea"/>
                        <a:cs typeface="+mn-cs"/>
                      </a:endParaRPr>
                    </a:p>
                    <a:p>
                      <a:r>
                        <a:rPr lang="fr-FR" sz="1800" b="1" i="0" kern="1200" dirty="0" smtClean="0">
                          <a:solidFill>
                            <a:schemeClr val="lt1"/>
                          </a:solidFill>
                          <a:effectLst/>
                          <a:latin typeface="+mn-lt"/>
                          <a:ea typeface="+mn-ea"/>
                          <a:cs typeface="+mn-cs"/>
                        </a:rPr>
                        <a:t>Téléphone :</a:t>
                      </a:r>
                      <a:r>
                        <a:rPr lang="fr-FR" sz="1800" b="0" i="0" kern="1200" dirty="0" smtClean="0">
                          <a:solidFill>
                            <a:schemeClr val="lt1"/>
                          </a:solidFill>
                          <a:effectLst/>
                          <a:latin typeface="+mn-lt"/>
                          <a:ea typeface="+mn-ea"/>
                          <a:cs typeface="+mn-cs"/>
                        </a:rPr>
                        <a:t>+221 78 476 63 34</a:t>
                      </a:r>
                    </a:p>
                    <a:p>
                      <a:r>
                        <a:rPr lang="fr-FR" sz="1800" b="1" i="0" kern="1200" dirty="0" smtClean="0">
                          <a:solidFill>
                            <a:schemeClr val="lt1"/>
                          </a:solidFill>
                          <a:effectLst/>
                          <a:latin typeface="+mn-lt"/>
                          <a:ea typeface="+mn-ea"/>
                          <a:cs typeface="+mn-cs"/>
                        </a:rPr>
                        <a:t>Adresse :</a:t>
                      </a:r>
                      <a:r>
                        <a:rPr lang="fr-FR" sz="1800" b="0" i="0" kern="1200" dirty="0" smtClean="0">
                          <a:solidFill>
                            <a:schemeClr val="lt1"/>
                          </a:solidFill>
                          <a:effectLst/>
                          <a:latin typeface="+mn-lt"/>
                          <a:ea typeface="+mn-ea"/>
                          <a:cs typeface="+mn-cs"/>
                        </a:rPr>
                        <a:t>Dakar, Sénégal</a:t>
                      </a:r>
                      <a:endParaRPr lang="fr-FR" sz="1800" b="0" i="0" kern="1200" dirty="0">
                        <a:solidFill>
                          <a:schemeClr val="lt1"/>
                        </a:solidFill>
                        <a:effectLst/>
                        <a:latin typeface="+mn-lt"/>
                        <a:ea typeface="+mn-ea"/>
                        <a:cs typeface="+mn-cs"/>
                      </a:endParaRPr>
                    </a:p>
                  </a:txBody>
                  <a:tcPr>
                    <a:solidFill>
                      <a:schemeClr val="accent3">
                        <a:lumMod val="75000"/>
                      </a:schemeClr>
                    </a:solidFill>
                  </a:tcPr>
                </a:tc>
              </a:tr>
            </a:tbl>
          </a:graphicData>
        </a:graphic>
      </p:graphicFrame>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9089" y="4257093"/>
            <a:ext cx="4692891" cy="2400423"/>
          </a:xfrm>
          <a:prstGeom prst="rect">
            <a:avLst/>
          </a:prstGeom>
        </p:spPr>
      </p:pic>
    </p:spTree>
    <p:extLst>
      <p:ext uri="{BB962C8B-B14F-4D97-AF65-F5344CB8AC3E}">
        <p14:creationId xmlns:p14="http://schemas.microsoft.com/office/powerpoint/2010/main" val="3918241678"/>
      </p:ext>
    </p:extLst>
  </p:cSld>
  <p:clrMapOvr>
    <a:masterClrMapping/>
  </p:clrMapOvr>
  <p:transition spd="slow">
    <p:wip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éleste">
  <a:themeElements>
    <a:clrScheme name="Céleste">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élest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éleste">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TM03457452[[fn=Céleste]]</Template>
  <TotalTime>437</TotalTime>
  <Words>319</Words>
  <Application>Microsoft Office PowerPoint</Application>
  <PresentationFormat>Grand écran</PresentationFormat>
  <Paragraphs>139</Paragraphs>
  <Slides>12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vt:i4>
      </vt:variant>
    </vt:vector>
  </HeadingPairs>
  <TitlesOfParts>
    <vt:vector size="18" baseType="lpstr">
      <vt:lpstr>Arial</vt:lpstr>
      <vt:lpstr>Calibri</vt:lpstr>
      <vt:lpstr>Calibri Light</vt:lpstr>
      <vt:lpstr>Courier New</vt:lpstr>
      <vt:lpstr>Wingdings</vt:lpstr>
      <vt:lpstr>Céleste</vt:lpstr>
      <vt:lpstr>SUJET DE PROJET — SEMESTRE 2</vt:lpstr>
      <vt:lpstr>Présentation PowerPoint</vt:lpstr>
      <vt:lpstr>I: Accueil</vt:lpstr>
      <vt:lpstr>Nos statistiques </vt:lpstr>
      <vt:lpstr>Comment ça marche</vt:lpstr>
      <vt:lpstr>Présentation PowerPoint</vt:lpstr>
      <vt:lpstr>Présentation PowerPoint</vt:lpstr>
      <vt:lpstr>Afritalent Plateformes de freelance en Afrique</vt:lpstr>
      <vt:lpstr>FREELANCES</vt:lpstr>
      <vt:lpstr>NOS TARIFS </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AfRiTalent</dc:title>
  <dc:creator>gr</dc:creator>
  <cp:lastModifiedBy>gr</cp:lastModifiedBy>
  <cp:revision>61</cp:revision>
  <dcterms:created xsi:type="dcterms:W3CDTF">2026-06-28T12:30:21Z</dcterms:created>
  <dcterms:modified xsi:type="dcterms:W3CDTF">2026-06-28T20:39:40Z</dcterms:modified>
</cp:coreProperties>
</file>